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MANE Select is the coordinate system for the whole tool. Every stored position is 1-based on a MANE Select transcript. Scans use the 19,363 Select transcripts only — the 74 Plus Clinical belong to genes that already have a Select transcript, so including them would list 74 genes twice.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central issue. Two tools looking at what they both call TPM1 may actually be reading different RNA sequences.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point for the supervisor: this was quantified before anything was built on top of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overstate the finding. The 38.7% is about transcript selection, not about prediction recall or accuracy.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of the four tools run ON our sequences, so they inherit MANE automatically. miRTarBase sidesteps the issue by storing sequence rather than position.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matters: 95.5% is of TargetScan's 19,474 genes resolving to MANE — NOT 95.5% of MANE genes finding TargetScan. Load accounting: 7,501,712 loaded + 226,824 dropped (not in MANE) + 36,529 dropped (duplicate Ensembl gene) = 7,765,065 input rows exactly.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Converting TargetScan coordinates onto MANE by alignment was rejected: with alternative splicing and different UTR boundaries, a conversion adds assumptions rather than removing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Without the transcript measurement, this looks like TargetScan failing or our tool being wrong. With it, the mechanism is exact and demonstrable.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18,357 genes in the loaded table gives 61.7% on MANE; the earlier 61.2% used the 18,593 resolved genes as its denominator. Same measurement, different denominator — do not mix them in one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one-sentence version: TargetScan and MANE use different transcript representations for many genes, so the tool keeps MANE as the coordinate backbone and integrates TargetScan only at gene level rather than pretending their coordinates are interchangeable.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685800"/>
          </a:xfrm>
          <a:prstGeom prst="rect">
            <a:avLst/>
          </a:prstGeom>
          <a:noFill/>
          <a:ln/>
        </p:spPr>
        <p:txBody>
          <a:bodyPr wrap="square" lIns="0" tIns="0" rIns="0" bIns="0" rtlCol="0" anchor="ctr"/>
          <a:lstStyle/>
          <a:p>
            <a:pPr algn="l" indent="0" marL="0">
              <a:buNone/>
            </a:pPr>
            <a:r>
              <a:rPr lang="en-US" sz="3400" b="1" dirty="0">
                <a:solidFill>
                  <a:srgbClr val="1F3864"/>
                </a:solidFill>
                <a:latin typeface="Arial" pitchFamily="34" charset="0"/>
                <a:ea typeface="Arial" pitchFamily="34" charset="-122"/>
                <a:cs typeface="Arial" pitchFamily="34" charset="-120"/>
              </a:rPr>
              <a:t>MANE Select v1.5 — The Transcript Backbone</a:t>
            </a:r>
            <a:endParaRPr lang="en-US" sz="3400" dirty="0"/>
          </a:p>
        </p:txBody>
      </p:sp>
      <p:sp>
        <p:nvSpPr>
          <p:cNvPr id="3" name="Text 1"/>
          <p:cNvSpPr txBox="1"/>
          <p:nvPr/>
        </p:nvSpPr>
        <p:spPr>
          <a:xfrm>
            <a:off x="548640" y="1097280"/>
            <a:ext cx="11064240" cy="548640"/>
          </a:xfrm>
          <a:prstGeom prst="rect">
            <a:avLst/>
          </a:prstGeom>
          <a:noFill/>
          <a:ln/>
        </p:spPr>
        <p:txBody>
          <a:bodyPr wrap="square" lIns="0" tIns="0" rIns="0" bIns="0" rtlCol="0" anchor="t"/>
          <a:lstStyle/>
          <a:p>
            <a:pPr algn="l" indent="0" marL="0">
              <a:buNone/>
            </a:pPr>
            <a:r>
              <a:rPr lang="en-US" sz="2100" b="1" dirty="0">
                <a:solidFill>
                  <a:srgbClr val="595959"/>
                </a:solidFill>
                <a:latin typeface="Arial" pitchFamily="34" charset="0"/>
                <a:ea typeface="Arial" pitchFamily="34" charset="-122"/>
                <a:cs typeface="Arial" pitchFamily="34" charset="-120"/>
              </a:rPr>
              <a:t>MANE = Matched Annotation from NCBI and EMBL-EBI</a:t>
            </a:r>
            <a:endParaRPr lang="en-US" sz="2100" dirty="0"/>
          </a:p>
        </p:txBody>
      </p:sp>
      <p:sp>
        <p:nvSpPr>
          <p:cNvPr id="4" name="Text 2"/>
          <p:cNvSpPr txBox="1"/>
          <p:nvPr/>
        </p:nvSpPr>
        <p:spPr>
          <a:xfrm>
            <a:off x="548640" y="1481328"/>
            <a:ext cx="11064240" cy="731520"/>
          </a:xfrm>
          <a:prstGeom prst="rect">
            <a:avLst/>
          </a:prstGeom>
          <a:noFill/>
          <a:ln/>
        </p:spPr>
        <p:txBody>
          <a:bodyPr wrap="square" lIns="0" tIns="0" rIns="0" bIns="0" rtlCol="0" anchor="t"/>
          <a:lstStyle/>
          <a:p>
            <a:pPr algn="l" indent="0" marL="0">
              <a:buNone/>
            </a:pPr>
            <a:r>
              <a:rPr lang="en-US" sz="1900" dirty="0">
                <a:solidFill>
                  <a:srgbClr val="1A1A1A"/>
                </a:solidFill>
                <a:latin typeface="Arial" pitchFamily="34" charset="0"/>
                <a:ea typeface="Arial" pitchFamily="34" charset="-122"/>
                <a:cs typeface="Arial" pitchFamily="34" charset="-120"/>
              </a:rPr>
              <a:t>A transcript set where RefSeq and Ensembl agree exactly. One representative transcript per protein-coding gene. Genome assembly: GRCh38.</a:t>
            </a:r>
            <a:endParaRPr lang="en-US" sz="1900" dirty="0"/>
          </a:p>
        </p:txBody>
      </p:sp>
      <p:graphicFrame>
        <p:nvGraphicFramePr>
          <p:cNvPr id="2" name="Table 0"/>
          <p:cNvGraphicFramePr>
            <a:graphicFrameLocks noGrp="1"/>
          </p:cNvGraphicFramePr>
          <p:nvPr>
            <p:extLst>
              <p:ext uri="{D42A27DB-BD31-4B8C-83A1-F6EECF244321}">
                <p14:modId xmlns:p14="http://schemas.microsoft.com/office/powerpoint/2010/main" val="1579011935"/>
              </p:ext>
            </p:extLst>
          </p:nvPr>
        </p:nvGraphicFramePr>
        <p:xfrm>
          <a:off x="548640" y="2331720"/>
          <a:ext cx="11064240" cy="914400"/>
        </p:xfrm>
        <a:graphic>
          <a:graphicData uri="http://schemas.openxmlformats.org/drawingml/2006/table">
            <a:tbl>
              <a:tblPr/>
              <a:tblGrid>
                <a:gridCol w="6035040"/>
                <a:gridCol w="5029200"/>
              </a:tblGrid>
              <a:tr h="420624">
                <a:tc>
                  <a:txBody>
                    <a:bodyPr/>
                    <a:lstStyle/>
                    <a:p>
                      <a:pPr algn="l" indent="0" marL="0">
                        <a:buNone/>
                      </a:pPr>
                      <a:r>
                        <a:rPr lang="en-US" sz="1700" b="1" dirty="0">
                          <a:solidFill>
                            <a:srgbClr val="1F3864"/>
                          </a:solidFill>
                          <a:latin typeface="Arial" pitchFamily="34" charset="0"/>
                          <a:ea typeface="Arial" pitchFamily="34" charset="-122"/>
                          <a:cs typeface="Arial" pitchFamily="34" charset="-120"/>
                        </a:rPr>
                        <a:t>What is loaded into the database</a:t>
                      </a:r>
                      <a:endParaRPr lang="en-US" sz="1700" dirty="0">
                        <a:latin typeface="Arial" charset="0"/>
                        <a:ea typeface="Arial" charset="0"/>
                        <a:cs typeface="Arial" charset="0"/>
                      </a:endParaRPr>
                    </a:p>
                  </a:txBody>
                  <a:tcPr marL="73152" marR="73152" marT="73152" marB="73152" anchor="ctr">
                    <a:lnL w="12700" cap="flat" cmpd="sng" algn="ctr">
                      <a:solidFill>
                        <a:srgbClr val="BFC9D9"/>
                      </a:solidFill>
                      <a:prstDash val="solid"/>
                      <a:round/>
                      <a:headEnd type="none" w="med" len="med"/>
                      <a:tailEnd type="none" w="med" len="med"/>
                    </a:lnL>
                    <a:lnR w="12700" cap="flat" cmpd="sng" algn="ctr">
                      <a:solidFill>
                        <a:srgbClr val="BFC9D9"/>
                      </a:solidFill>
                      <a:prstDash val="solid"/>
                      <a:round/>
                      <a:headEnd type="none" w="med" len="med"/>
                      <a:tailEnd type="none" w="med" len="med"/>
                    </a:lnR>
                    <a:lnT w="12700" cap="flat" cmpd="sng" algn="ctr">
                      <a:solidFill>
                        <a:srgbClr val="BFC9D9"/>
                      </a:solidFill>
                      <a:prstDash val="solid"/>
                      <a:round/>
                      <a:headEnd type="none" w="med" len="med"/>
                      <a:tailEnd type="none" w="med" len="med"/>
                    </a:lnT>
                    <a:lnB w="12700" cap="flat" cmpd="sng" algn="ctr">
                      <a:solidFill>
                        <a:srgbClr val="BFC9D9"/>
                      </a:solidFill>
                      <a:prstDash val="solid"/>
                      <a:round/>
                      <a:headEnd type="none" w="med" len="med"/>
                      <a:tailEnd type="none" w="med" len="med"/>
                    </a:lnB>
                    <a:solidFill>
                      <a:srgbClr val="D9E2F0"/>
                    </a:solidFill>
                  </a:tcPr>
                </a:tc>
                <a:tc>
                  <a:txBody>
                    <a:bodyPr/>
                    <a:lstStyle/>
                    <a:p>
                      <a:pPr algn="l" indent="0" marL="0">
                        <a:buNone/>
                      </a:pPr>
                      <a:r>
                        <a:rPr lang="en-US" sz="1700" b="1" dirty="0">
                          <a:solidFill>
                            <a:srgbClr val="1F3864"/>
                          </a:solidFill>
                          <a:latin typeface="Arial" pitchFamily="34" charset="0"/>
                          <a:ea typeface="Arial" pitchFamily="34" charset="-122"/>
                          <a:cs typeface="Arial" pitchFamily="34" charset="-120"/>
                        </a:rPr>
                        <a:t>Count</a:t>
                      </a:r>
                      <a:endParaRPr lang="en-US" sz="1700" dirty="0">
                        <a:latin typeface="Arial" charset="0"/>
                        <a:ea typeface="Arial" charset="0"/>
                        <a:cs typeface="Arial" charset="0"/>
                      </a:endParaRPr>
                    </a:p>
                  </a:txBody>
                  <a:tcPr marL="73152" marR="73152" marT="73152" marB="73152" anchor="ctr">
                    <a:lnL w="12700" cap="flat" cmpd="sng" algn="ctr">
                      <a:solidFill>
                        <a:srgbClr val="BFC9D9"/>
                      </a:solidFill>
                      <a:prstDash val="solid"/>
                      <a:round/>
                      <a:headEnd type="none" w="med" len="med"/>
                      <a:tailEnd type="none" w="med" len="med"/>
                    </a:lnL>
                    <a:lnR w="12700" cap="flat" cmpd="sng" algn="ctr">
                      <a:solidFill>
                        <a:srgbClr val="BFC9D9"/>
                      </a:solidFill>
                      <a:prstDash val="solid"/>
                      <a:round/>
                      <a:headEnd type="none" w="med" len="med"/>
                      <a:tailEnd type="none" w="med" len="med"/>
                    </a:lnR>
                    <a:lnT w="12700" cap="flat" cmpd="sng" algn="ctr">
                      <a:solidFill>
                        <a:srgbClr val="BFC9D9"/>
                      </a:solidFill>
                      <a:prstDash val="solid"/>
                      <a:round/>
                      <a:headEnd type="none" w="med" len="med"/>
                      <a:tailEnd type="none" w="med" len="med"/>
                    </a:lnT>
                    <a:lnB w="12700" cap="flat" cmpd="sng" algn="ctr">
                      <a:solidFill>
                        <a:srgbClr val="BFC9D9"/>
                      </a:solidFill>
                      <a:prstDash val="solid"/>
                      <a:round/>
                      <a:headEnd type="none" w="med" len="med"/>
                      <a:tailEnd type="none" w="med" len="med"/>
                    </a:lnB>
                    <a:solidFill>
                      <a:srgbClr val="D9E2F0"/>
                    </a:solidFill>
                  </a:tcPr>
                </a:tc>
              </a:tr>
              <a:tr h="420624">
                <a:tc>
                  <a:txBody>
                    <a:bodyPr/>
                    <a:lstStyle/>
                    <a:p>
                      <a:pPr algn="l" indent="0" marL="0">
                        <a:buNone/>
                      </a:pPr>
                      <a:r>
                        <a:rPr lang="en-US" sz="1700" dirty="0">
                          <a:solidFill>
                            <a:srgbClr val="1A1A1A"/>
                          </a:solidFill>
                          <a:latin typeface="Arial" pitchFamily="34" charset="0"/>
                          <a:ea typeface="Arial" pitchFamily="34" charset="-122"/>
                          <a:cs typeface="Arial" pitchFamily="34" charset="-120"/>
                        </a:rPr>
                        <a:t>Genes</a:t>
                      </a:r>
                      <a:endParaRPr lang="en-US" sz="1700" dirty="0">
                        <a:latin typeface="Arial" charset="0"/>
                        <a:ea typeface="Arial" charset="0"/>
                        <a:cs typeface="Arial" charset="0"/>
                      </a:endParaRPr>
                    </a:p>
                  </a:txBody>
                  <a:tcPr marL="73152" marR="73152" marT="73152" marB="73152" anchor="ctr">
                    <a:lnL w="12700" cap="flat" cmpd="sng" algn="ctr">
                      <a:solidFill>
                        <a:srgbClr val="BFC9D9"/>
                      </a:solidFill>
                      <a:prstDash val="solid"/>
                      <a:round/>
                      <a:headEnd type="none" w="med" len="med"/>
                      <a:tailEnd type="none" w="med" len="med"/>
                    </a:lnL>
                    <a:lnR w="12700" cap="flat" cmpd="sng" algn="ctr">
                      <a:solidFill>
                        <a:srgbClr val="BFC9D9"/>
                      </a:solidFill>
                      <a:prstDash val="solid"/>
                      <a:round/>
                      <a:headEnd type="none" w="med" len="med"/>
                      <a:tailEnd type="none" w="med" len="med"/>
                    </a:lnR>
                    <a:lnT w="12700" cap="flat" cmpd="sng" algn="ctr">
                      <a:solidFill>
                        <a:srgbClr val="BFC9D9"/>
                      </a:solidFill>
                      <a:prstDash val="solid"/>
                      <a:round/>
                      <a:headEnd type="none" w="med" len="med"/>
                      <a:tailEnd type="none" w="med" len="med"/>
                    </a:lnT>
                    <a:lnB w="12700" cap="flat" cmpd="sng" algn="ctr">
                      <a:solidFill>
                        <a:srgbClr val="BFC9D9"/>
                      </a:solidFill>
                      <a:prstDash val="solid"/>
                      <a:round/>
                      <a:headEnd type="none" w="med" len="med"/>
                      <a:tailEnd type="none" w="med" len="med"/>
                    </a:lnB>
                    <a:solidFill>
                      <a:srgbClr val="F2F4F7"/>
                    </a:solidFill>
                  </a:tcPr>
                </a:tc>
                <a:tc>
                  <a:txBody>
                    <a:bodyPr/>
                    <a:lstStyle/>
                    <a:p>
                      <a:pPr algn="l" indent="0" marL="0">
                        <a:buNone/>
                      </a:pPr>
                      <a:r>
                        <a:rPr lang="en-US" sz="1700" b="1" dirty="0">
                          <a:solidFill>
                            <a:srgbClr val="1A1A1A"/>
                          </a:solidFill>
                          <a:latin typeface="Arial" pitchFamily="34" charset="0"/>
                          <a:ea typeface="Arial" pitchFamily="34" charset="-122"/>
                          <a:cs typeface="Arial" pitchFamily="34" charset="-120"/>
                        </a:rPr>
                        <a:t>19,363</a:t>
                      </a:r>
                      <a:endParaRPr lang="en-US" sz="1700" dirty="0">
                        <a:latin typeface="Arial" charset="0"/>
                        <a:ea typeface="Arial" charset="0"/>
                        <a:cs typeface="Arial" charset="0"/>
                      </a:endParaRPr>
                    </a:p>
                  </a:txBody>
                  <a:tcPr marL="73152" marR="73152" marT="73152" marB="73152" anchor="ctr">
                    <a:lnL w="12700" cap="flat" cmpd="sng" algn="ctr">
                      <a:solidFill>
                        <a:srgbClr val="BFC9D9"/>
                      </a:solidFill>
                      <a:prstDash val="solid"/>
                      <a:round/>
                      <a:headEnd type="none" w="med" len="med"/>
                      <a:tailEnd type="none" w="med" len="med"/>
                    </a:lnL>
                    <a:lnR w="12700" cap="flat" cmpd="sng" algn="ctr">
                      <a:solidFill>
                        <a:srgbClr val="BFC9D9"/>
                      </a:solidFill>
                      <a:prstDash val="solid"/>
                      <a:round/>
                      <a:headEnd type="none" w="med" len="med"/>
                      <a:tailEnd type="none" w="med" len="med"/>
                    </a:lnR>
                    <a:lnT w="12700" cap="flat" cmpd="sng" algn="ctr">
                      <a:solidFill>
                        <a:srgbClr val="BFC9D9"/>
                      </a:solidFill>
                      <a:prstDash val="solid"/>
                      <a:round/>
                      <a:headEnd type="none" w="med" len="med"/>
                      <a:tailEnd type="none" w="med" len="med"/>
                    </a:lnT>
                    <a:lnB w="12700" cap="flat" cmpd="sng" algn="ctr">
                      <a:solidFill>
                        <a:srgbClr val="BFC9D9"/>
                      </a:solidFill>
                      <a:prstDash val="solid"/>
                      <a:round/>
                      <a:headEnd type="none" w="med" len="med"/>
                      <a:tailEnd type="none" w="med" len="med"/>
                    </a:lnB>
                    <a:solidFill>
                      <a:srgbClr val="F2F4F7"/>
                    </a:solidFill>
                  </a:tcPr>
                </a:tc>
              </a:tr>
              <a:tr h="420624">
                <a:tc>
                  <a:txBody>
                    <a:bodyPr/>
                    <a:lstStyle/>
                    <a:p>
                      <a:pPr algn="l" indent="0" marL="0">
                        <a:buNone/>
                      </a:pPr>
                      <a:r>
                        <a:rPr lang="en-US" sz="1700" dirty="0">
                          <a:solidFill>
                            <a:srgbClr val="1A1A1A"/>
                          </a:solidFill>
                          <a:latin typeface="Arial" pitchFamily="34" charset="0"/>
                          <a:ea typeface="Arial" pitchFamily="34" charset="-122"/>
                          <a:cs typeface="Arial" pitchFamily="34" charset="-120"/>
                        </a:rPr>
                        <a:t>Transcripts</a:t>
                      </a:r>
                      <a:endParaRPr lang="en-US" sz="1700" dirty="0">
                        <a:latin typeface="Arial" charset="0"/>
                        <a:ea typeface="Arial" charset="0"/>
                        <a:cs typeface="Arial" charset="0"/>
                      </a:endParaRPr>
                    </a:p>
                  </a:txBody>
                  <a:tcPr marL="73152" marR="73152" marT="73152" marB="73152" anchor="ctr">
                    <a:lnL w="12700" cap="flat" cmpd="sng" algn="ctr">
                      <a:solidFill>
                        <a:srgbClr val="BFC9D9"/>
                      </a:solidFill>
                      <a:prstDash val="solid"/>
                      <a:round/>
                      <a:headEnd type="none" w="med" len="med"/>
                      <a:tailEnd type="none" w="med" len="med"/>
                    </a:lnL>
                    <a:lnR w="12700" cap="flat" cmpd="sng" algn="ctr">
                      <a:solidFill>
                        <a:srgbClr val="BFC9D9"/>
                      </a:solidFill>
                      <a:prstDash val="solid"/>
                      <a:round/>
                      <a:headEnd type="none" w="med" len="med"/>
                      <a:tailEnd type="none" w="med" len="med"/>
                    </a:lnR>
                    <a:lnT w="12700" cap="flat" cmpd="sng" algn="ctr">
                      <a:solidFill>
                        <a:srgbClr val="BFC9D9"/>
                      </a:solidFill>
                      <a:prstDash val="solid"/>
                      <a:round/>
                      <a:headEnd type="none" w="med" len="med"/>
                      <a:tailEnd type="none" w="med" len="med"/>
                    </a:lnT>
                    <a:lnB w="12700" cap="flat" cmpd="sng" algn="ctr">
                      <a:solidFill>
                        <a:srgbClr val="BFC9D9"/>
                      </a:solidFill>
                      <a:prstDash val="solid"/>
                      <a:round/>
                      <a:headEnd type="none" w="med" len="med"/>
                      <a:tailEnd type="none" w="med" len="med"/>
                    </a:lnB>
                    <a:solidFill>
                      <a:srgbClr val="FFFFFF"/>
                    </a:solidFill>
                  </a:tcPr>
                </a:tc>
                <a:tc>
                  <a:txBody>
                    <a:bodyPr/>
                    <a:lstStyle/>
                    <a:p>
                      <a:pPr algn="l" indent="0" marL="0">
                        <a:buNone/>
                      </a:pPr>
                      <a:r>
                        <a:rPr lang="en-US" sz="1700" b="1" dirty="0">
                          <a:solidFill>
                            <a:srgbClr val="1A1A1A"/>
                          </a:solidFill>
                          <a:latin typeface="Arial" pitchFamily="34" charset="0"/>
                          <a:ea typeface="Arial" pitchFamily="34" charset="-122"/>
                          <a:cs typeface="Arial" pitchFamily="34" charset="-120"/>
                        </a:rPr>
                        <a:t>19,437   (19,363 Select + 74 Plus Clinical)</a:t>
                      </a:r>
                      <a:endParaRPr lang="en-US" sz="1700" dirty="0">
                        <a:latin typeface="Arial" charset="0"/>
                        <a:ea typeface="Arial" charset="0"/>
                        <a:cs typeface="Arial" charset="0"/>
                      </a:endParaRPr>
                    </a:p>
                  </a:txBody>
                  <a:tcPr marL="73152" marR="73152" marT="73152" marB="73152" anchor="ctr">
                    <a:lnL w="12700" cap="flat" cmpd="sng" algn="ctr">
                      <a:solidFill>
                        <a:srgbClr val="BFC9D9"/>
                      </a:solidFill>
                      <a:prstDash val="solid"/>
                      <a:round/>
                      <a:headEnd type="none" w="med" len="med"/>
                      <a:tailEnd type="none" w="med" len="med"/>
                    </a:lnL>
                    <a:lnR w="12700" cap="flat" cmpd="sng" algn="ctr">
                      <a:solidFill>
                        <a:srgbClr val="BFC9D9"/>
                      </a:solidFill>
                      <a:prstDash val="solid"/>
                      <a:round/>
                      <a:headEnd type="none" w="med" len="med"/>
                      <a:tailEnd type="none" w="med" len="med"/>
                    </a:lnR>
                    <a:lnT w="12700" cap="flat" cmpd="sng" algn="ctr">
                      <a:solidFill>
                        <a:srgbClr val="BFC9D9"/>
                      </a:solidFill>
                      <a:prstDash val="solid"/>
                      <a:round/>
                      <a:headEnd type="none" w="med" len="med"/>
                      <a:tailEnd type="none" w="med" len="med"/>
                    </a:lnT>
                    <a:lnB w="12700" cap="flat" cmpd="sng" algn="ctr">
                      <a:solidFill>
                        <a:srgbClr val="BFC9D9"/>
                      </a:solidFill>
                      <a:prstDash val="solid"/>
                      <a:round/>
                      <a:headEnd type="none" w="med" len="med"/>
                      <a:tailEnd type="none" w="med" len="med"/>
                    </a:lnB>
                    <a:solidFill>
                      <a:srgbClr val="FFFFFF"/>
                    </a:solidFill>
                  </a:tcPr>
                </a:tc>
              </a:tr>
              <a:tr h="420624">
                <a:tc>
                  <a:txBody>
                    <a:bodyPr/>
                    <a:lstStyle/>
                    <a:p>
                      <a:pPr algn="l" indent="0" marL="0">
                        <a:buNone/>
                      </a:pPr>
                      <a:r>
                        <a:rPr lang="en-US" sz="1700" dirty="0">
                          <a:solidFill>
                            <a:srgbClr val="1A1A1A"/>
                          </a:solidFill>
                          <a:latin typeface="Arial" pitchFamily="34" charset="0"/>
                          <a:ea typeface="Arial" pitchFamily="34" charset="-122"/>
                          <a:cs typeface="Arial" pitchFamily="34" charset="-120"/>
                        </a:rPr>
                        <a:t>Regions  (5'UTR, CDS, 3'UTR)</a:t>
                      </a:r>
                      <a:endParaRPr lang="en-US" sz="1700" dirty="0">
                        <a:latin typeface="Arial" charset="0"/>
                        <a:ea typeface="Arial" charset="0"/>
                        <a:cs typeface="Arial" charset="0"/>
                      </a:endParaRPr>
                    </a:p>
                  </a:txBody>
                  <a:tcPr marL="73152" marR="73152" marT="73152" marB="73152" anchor="ctr">
                    <a:lnL w="12700" cap="flat" cmpd="sng" algn="ctr">
                      <a:solidFill>
                        <a:srgbClr val="BFC9D9"/>
                      </a:solidFill>
                      <a:prstDash val="solid"/>
                      <a:round/>
                      <a:headEnd type="none" w="med" len="med"/>
                      <a:tailEnd type="none" w="med" len="med"/>
                    </a:lnL>
                    <a:lnR w="12700" cap="flat" cmpd="sng" algn="ctr">
                      <a:solidFill>
                        <a:srgbClr val="BFC9D9"/>
                      </a:solidFill>
                      <a:prstDash val="solid"/>
                      <a:round/>
                      <a:headEnd type="none" w="med" len="med"/>
                      <a:tailEnd type="none" w="med" len="med"/>
                    </a:lnR>
                    <a:lnT w="12700" cap="flat" cmpd="sng" algn="ctr">
                      <a:solidFill>
                        <a:srgbClr val="BFC9D9"/>
                      </a:solidFill>
                      <a:prstDash val="solid"/>
                      <a:round/>
                      <a:headEnd type="none" w="med" len="med"/>
                      <a:tailEnd type="none" w="med" len="med"/>
                    </a:lnT>
                    <a:lnB w="12700" cap="flat" cmpd="sng" algn="ctr">
                      <a:solidFill>
                        <a:srgbClr val="BFC9D9"/>
                      </a:solidFill>
                      <a:prstDash val="solid"/>
                      <a:round/>
                      <a:headEnd type="none" w="med" len="med"/>
                      <a:tailEnd type="none" w="med" len="med"/>
                    </a:lnB>
                    <a:solidFill>
                      <a:srgbClr val="F2F4F7"/>
                    </a:solidFill>
                  </a:tcPr>
                </a:tc>
                <a:tc>
                  <a:txBody>
                    <a:bodyPr/>
                    <a:lstStyle/>
                    <a:p>
                      <a:pPr algn="l" indent="0" marL="0">
                        <a:buNone/>
                      </a:pPr>
                      <a:r>
                        <a:rPr lang="en-US" sz="1700" b="1" dirty="0">
                          <a:solidFill>
                            <a:srgbClr val="1A1A1A"/>
                          </a:solidFill>
                          <a:latin typeface="Arial" pitchFamily="34" charset="0"/>
                          <a:ea typeface="Arial" pitchFamily="34" charset="-122"/>
                          <a:cs typeface="Arial" pitchFamily="34" charset="-120"/>
                        </a:rPr>
                        <a:t>57,460</a:t>
                      </a:r>
                      <a:endParaRPr lang="en-US" sz="1700" dirty="0">
                        <a:latin typeface="Arial" charset="0"/>
                        <a:ea typeface="Arial" charset="0"/>
                        <a:cs typeface="Arial" charset="0"/>
                      </a:endParaRPr>
                    </a:p>
                  </a:txBody>
                  <a:tcPr marL="73152" marR="73152" marT="73152" marB="73152" anchor="ctr">
                    <a:lnL w="12700" cap="flat" cmpd="sng" algn="ctr">
                      <a:solidFill>
                        <a:srgbClr val="BFC9D9"/>
                      </a:solidFill>
                      <a:prstDash val="solid"/>
                      <a:round/>
                      <a:headEnd type="none" w="med" len="med"/>
                      <a:tailEnd type="none" w="med" len="med"/>
                    </a:lnL>
                    <a:lnR w="12700" cap="flat" cmpd="sng" algn="ctr">
                      <a:solidFill>
                        <a:srgbClr val="BFC9D9"/>
                      </a:solidFill>
                      <a:prstDash val="solid"/>
                      <a:round/>
                      <a:headEnd type="none" w="med" len="med"/>
                      <a:tailEnd type="none" w="med" len="med"/>
                    </a:lnR>
                    <a:lnT w="12700" cap="flat" cmpd="sng" algn="ctr">
                      <a:solidFill>
                        <a:srgbClr val="BFC9D9"/>
                      </a:solidFill>
                      <a:prstDash val="solid"/>
                      <a:round/>
                      <a:headEnd type="none" w="med" len="med"/>
                      <a:tailEnd type="none" w="med" len="med"/>
                    </a:lnT>
                    <a:lnB w="12700" cap="flat" cmpd="sng" algn="ctr">
                      <a:solidFill>
                        <a:srgbClr val="BFC9D9"/>
                      </a:solidFill>
                      <a:prstDash val="solid"/>
                      <a:round/>
                      <a:headEnd type="none" w="med" len="med"/>
                      <a:tailEnd type="none" w="med" len="med"/>
                    </a:lnB>
                    <a:solidFill>
                      <a:srgbClr val="F2F4F7"/>
                    </a:solidFill>
                  </a:tcPr>
                </a:tc>
              </a:tr>
              <a:tr h="420624">
                <a:tc>
                  <a:txBody>
                    <a:bodyPr/>
                    <a:lstStyle/>
                    <a:p>
                      <a:pPr algn="l" indent="0" marL="0">
                        <a:buNone/>
                      </a:pPr>
                      <a:r>
                        <a:rPr lang="en-US" sz="1700" dirty="0">
                          <a:solidFill>
                            <a:srgbClr val="1A1A1A"/>
                          </a:solidFill>
                          <a:latin typeface="Arial" pitchFamily="34" charset="0"/>
                          <a:ea typeface="Arial" pitchFamily="34" charset="-122"/>
                          <a:cs typeface="Arial" pitchFamily="34" charset="-120"/>
                        </a:rPr>
                        <a:t>Gene aliases</a:t>
                      </a:r>
                      <a:endParaRPr lang="en-US" sz="1700" dirty="0">
                        <a:latin typeface="Arial" charset="0"/>
                        <a:ea typeface="Arial" charset="0"/>
                        <a:cs typeface="Arial" charset="0"/>
                      </a:endParaRPr>
                    </a:p>
                  </a:txBody>
                  <a:tcPr marL="73152" marR="73152" marT="73152" marB="73152" anchor="ctr">
                    <a:lnL w="12700" cap="flat" cmpd="sng" algn="ctr">
                      <a:solidFill>
                        <a:srgbClr val="BFC9D9"/>
                      </a:solidFill>
                      <a:prstDash val="solid"/>
                      <a:round/>
                      <a:headEnd type="none" w="med" len="med"/>
                      <a:tailEnd type="none" w="med" len="med"/>
                    </a:lnL>
                    <a:lnR w="12700" cap="flat" cmpd="sng" algn="ctr">
                      <a:solidFill>
                        <a:srgbClr val="BFC9D9"/>
                      </a:solidFill>
                      <a:prstDash val="solid"/>
                      <a:round/>
                      <a:headEnd type="none" w="med" len="med"/>
                      <a:tailEnd type="none" w="med" len="med"/>
                    </a:lnR>
                    <a:lnT w="12700" cap="flat" cmpd="sng" algn="ctr">
                      <a:solidFill>
                        <a:srgbClr val="BFC9D9"/>
                      </a:solidFill>
                      <a:prstDash val="solid"/>
                      <a:round/>
                      <a:headEnd type="none" w="med" len="med"/>
                      <a:tailEnd type="none" w="med" len="med"/>
                    </a:lnT>
                    <a:lnB w="12700" cap="flat" cmpd="sng" algn="ctr">
                      <a:solidFill>
                        <a:srgbClr val="BFC9D9"/>
                      </a:solidFill>
                      <a:prstDash val="solid"/>
                      <a:round/>
                      <a:headEnd type="none" w="med" len="med"/>
                      <a:tailEnd type="none" w="med" len="med"/>
                    </a:lnB>
                    <a:solidFill>
                      <a:srgbClr val="FFFFFF"/>
                    </a:solidFill>
                  </a:tcPr>
                </a:tc>
                <a:tc>
                  <a:txBody>
                    <a:bodyPr/>
                    <a:lstStyle/>
                    <a:p>
                      <a:pPr algn="l" indent="0" marL="0">
                        <a:buNone/>
                      </a:pPr>
                      <a:r>
                        <a:rPr lang="en-US" sz="1700" b="1" dirty="0">
                          <a:solidFill>
                            <a:srgbClr val="1A1A1A"/>
                          </a:solidFill>
                          <a:latin typeface="Arial" pitchFamily="34" charset="0"/>
                          <a:ea typeface="Arial" pitchFamily="34" charset="-122"/>
                          <a:cs typeface="Arial" pitchFamily="34" charset="-120"/>
                        </a:rPr>
                        <a:t>76,673</a:t>
                      </a:r>
                      <a:endParaRPr lang="en-US" sz="1700" dirty="0">
                        <a:latin typeface="Arial" charset="0"/>
                        <a:ea typeface="Arial" charset="0"/>
                        <a:cs typeface="Arial" charset="0"/>
                      </a:endParaRPr>
                    </a:p>
                  </a:txBody>
                  <a:tcPr marL="73152" marR="73152" marT="73152" marB="73152" anchor="ctr">
                    <a:lnL w="12700" cap="flat" cmpd="sng" algn="ctr">
                      <a:solidFill>
                        <a:srgbClr val="BFC9D9"/>
                      </a:solidFill>
                      <a:prstDash val="solid"/>
                      <a:round/>
                      <a:headEnd type="none" w="med" len="med"/>
                      <a:tailEnd type="none" w="med" len="med"/>
                    </a:lnL>
                    <a:lnR w="12700" cap="flat" cmpd="sng" algn="ctr">
                      <a:solidFill>
                        <a:srgbClr val="BFC9D9"/>
                      </a:solidFill>
                      <a:prstDash val="solid"/>
                      <a:round/>
                      <a:headEnd type="none" w="med" len="med"/>
                      <a:tailEnd type="none" w="med" len="med"/>
                    </a:lnR>
                    <a:lnT w="12700" cap="flat" cmpd="sng" algn="ctr">
                      <a:solidFill>
                        <a:srgbClr val="BFC9D9"/>
                      </a:solidFill>
                      <a:prstDash val="solid"/>
                      <a:round/>
                      <a:headEnd type="none" w="med" len="med"/>
                      <a:tailEnd type="none" w="med" len="med"/>
                    </a:lnT>
                    <a:lnB w="12700" cap="flat" cmpd="sng" algn="ctr">
                      <a:solidFill>
                        <a:srgbClr val="BFC9D9"/>
                      </a:solidFill>
                      <a:prstDash val="solid"/>
                      <a:round/>
                      <a:headEnd type="none" w="med" len="med"/>
                      <a:tailEnd type="none" w="med" len="med"/>
                    </a:lnB>
                    <a:solidFill>
                      <a:srgbClr val="FFFFFF"/>
                    </a:solidFill>
                  </a:tcPr>
                </a:tc>
              </a:tr>
              <a:tr h="420624">
                <a:tc>
                  <a:txBody>
                    <a:bodyPr/>
                    <a:lstStyle/>
                    <a:p>
                      <a:pPr algn="l" indent="0" marL="0">
                        <a:buNone/>
                      </a:pPr>
                      <a:r>
                        <a:rPr lang="en-US" sz="1700" dirty="0">
                          <a:solidFill>
                            <a:srgbClr val="1A1A1A"/>
                          </a:solidFill>
                          <a:latin typeface="Arial" pitchFamily="34" charset="0"/>
                          <a:ea typeface="Arial" pitchFamily="34" charset="-122"/>
                          <a:cs typeface="Arial" pitchFamily="34" charset="-120"/>
                        </a:rPr>
                        <a:t>Transcript sequences</a:t>
                      </a:r>
                      <a:endParaRPr lang="en-US" sz="1700" dirty="0">
                        <a:latin typeface="Arial" charset="0"/>
                        <a:ea typeface="Arial" charset="0"/>
                        <a:cs typeface="Arial" charset="0"/>
                      </a:endParaRPr>
                    </a:p>
                  </a:txBody>
                  <a:tcPr marL="73152" marR="73152" marT="73152" marB="73152" anchor="ctr">
                    <a:lnL w="12700" cap="flat" cmpd="sng" algn="ctr">
                      <a:solidFill>
                        <a:srgbClr val="BFC9D9"/>
                      </a:solidFill>
                      <a:prstDash val="solid"/>
                      <a:round/>
                      <a:headEnd type="none" w="med" len="med"/>
                      <a:tailEnd type="none" w="med" len="med"/>
                    </a:lnL>
                    <a:lnR w="12700" cap="flat" cmpd="sng" algn="ctr">
                      <a:solidFill>
                        <a:srgbClr val="BFC9D9"/>
                      </a:solidFill>
                      <a:prstDash val="solid"/>
                      <a:round/>
                      <a:headEnd type="none" w="med" len="med"/>
                      <a:tailEnd type="none" w="med" len="med"/>
                    </a:lnR>
                    <a:lnT w="12700" cap="flat" cmpd="sng" algn="ctr">
                      <a:solidFill>
                        <a:srgbClr val="BFC9D9"/>
                      </a:solidFill>
                      <a:prstDash val="solid"/>
                      <a:round/>
                      <a:headEnd type="none" w="med" len="med"/>
                      <a:tailEnd type="none" w="med" len="med"/>
                    </a:lnT>
                    <a:lnB w="12700" cap="flat" cmpd="sng" algn="ctr">
                      <a:solidFill>
                        <a:srgbClr val="BFC9D9"/>
                      </a:solidFill>
                      <a:prstDash val="solid"/>
                      <a:round/>
                      <a:headEnd type="none" w="med" len="med"/>
                      <a:tailEnd type="none" w="med" len="med"/>
                    </a:lnB>
                    <a:solidFill>
                      <a:srgbClr val="F2F4F7"/>
                    </a:solidFill>
                  </a:tcPr>
                </a:tc>
                <a:tc>
                  <a:txBody>
                    <a:bodyPr/>
                    <a:lstStyle/>
                    <a:p>
                      <a:pPr algn="l" indent="0" marL="0">
                        <a:buNone/>
                      </a:pPr>
                      <a:r>
                        <a:rPr lang="en-US" sz="1700" dirty="0">
                          <a:solidFill>
                            <a:srgbClr val="1A1A1A"/>
                          </a:solidFill>
                          <a:latin typeface="Arial" pitchFamily="34" charset="0"/>
                          <a:ea typeface="Arial" pitchFamily="34" charset="-122"/>
                          <a:cs typeface="Arial" pitchFamily="34" charset="-120"/>
                        </a:rPr>
                        <a:t>stored inside SQLite, not in FASTA files</a:t>
                      </a:r>
                      <a:endParaRPr lang="en-US" sz="1700" dirty="0">
                        <a:latin typeface="Arial" charset="0"/>
                        <a:ea typeface="Arial" charset="0"/>
                        <a:cs typeface="Arial" charset="0"/>
                      </a:endParaRPr>
                    </a:p>
                  </a:txBody>
                  <a:tcPr marL="73152" marR="73152" marT="73152" marB="73152" anchor="ctr">
                    <a:lnL w="12700" cap="flat" cmpd="sng" algn="ctr">
                      <a:solidFill>
                        <a:srgbClr val="BFC9D9"/>
                      </a:solidFill>
                      <a:prstDash val="solid"/>
                      <a:round/>
                      <a:headEnd type="none" w="med" len="med"/>
                      <a:tailEnd type="none" w="med" len="med"/>
                    </a:lnL>
                    <a:lnR w="12700" cap="flat" cmpd="sng" algn="ctr">
                      <a:solidFill>
                        <a:srgbClr val="BFC9D9"/>
                      </a:solidFill>
                      <a:prstDash val="solid"/>
                      <a:round/>
                      <a:headEnd type="none" w="med" len="med"/>
                      <a:tailEnd type="none" w="med" len="med"/>
                    </a:lnR>
                    <a:lnT w="12700" cap="flat" cmpd="sng" algn="ctr">
                      <a:solidFill>
                        <a:srgbClr val="BFC9D9"/>
                      </a:solidFill>
                      <a:prstDash val="solid"/>
                      <a:round/>
                      <a:headEnd type="none" w="med" len="med"/>
                      <a:tailEnd type="none" w="med" len="med"/>
                    </a:lnT>
                    <a:lnB w="12700" cap="flat" cmpd="sng" algn="ctr">
                      <a:solidFill>
                        <a:srgbClr val="BFC9D9"/>
                      </a:solidFill>
                      <a:prstDash val="solid"/>
                      <a:round/>
                      <a:headEnd type="none" w="med" len="med"/>
                      <a:tailEnd type="none" w="med" len="med"/>
                    </a:lnB>
                    <a:solidFill>
                      <a:srgbClr val="F2F4F7"/>
                    </a:solidFill>
                  </a:tcPr>
                </a:tc>
              </a:tr>
            </a:tbl>
          </a:graphicData>
        </a:graphic>
      </p:graphicFrame>
      <p:sp>
        <p:nvSpPr>
          <p:cNvPr id="6" name="Shape 3"/>
          <p:cNvSpPr/>
          <p:nvPr/>
        </p:nvSpPr>
        <p:spPr>
          <a:xfrm>
            <a:off x="548640" y="5212080"/>
            <a:ext cx="11064240" cy="1051560"/>
          </a:xfrm>
          <a:prstGeom prst="roundRect">
            <a:avLst>
              <a:gd name="adj" fmla="val 6957"/>
            </a:avLst>
          </a:prstGeom>
          <a:solidFill>
            <a:srgbClr val="EAF0F8"/>
          </a:solidFill>
          <a:ln w="15875">
            <a:solidFill>
              <a:srgbClr val="9DB4D4"/>
            </a:solidFill>
            <a:prstDash val="solid"/>
          </a:ln>
        </p:spPr>
      </p:sp>
      <p:sp>
        <p:nvSpPr>
          <p:cNvPr id="7" name="Text 4"/>
          <p:cNvSpPr txBox="1"/>
          <p:nvPr/>
        </p:nvSpPr>
        <p:spPr>
          <a:xfrm>
            <a:off x="822960" y="5376672"/>
            <a:ext cx="10515600" cy="548640"/>
          </a:xfrm>
          <a:prstGeom prst="rect">
            <a:avLst/>
          </a:prstGeom>
          <a:noFill/>
          <a:ln/>
        </p:spPr>
        <p:txBody>
          <a:bodyPr wrap="square" lIns="0" tIns="0" rIns="0" bIns="0" rtlCol="0" anchor="t"/>
          <a:lstStyle/>
          <a:p>
            <a:pPr algn="l" indent="0" marL="0">
              <a:buNone/>
            </a:pPr>
            <a:r>
              <a:rPr lang="en-US" sz="1800" b="1" dirty="0">
                <a:solidFill>
                  <a:srgbClr val="1F3864"/>
                </a:solidFill>
                <a:latin typeface="Arial" pitchFamily="34" charset="0"/>
                <a:ea typeface="Arial" pitchFamily="34" charset="-122"/>
                <a:cs typeface="Arial" pitchFamily="34" charset="-120"/>
              </a:rPr>
              <a:t>Why one transcript per gene?</a:t>
            </a:r>
            <a:endParaRPr lang="en-US" sz="1800" dirty="0"/>
          </a:p>
        </p:txBody>
      </p:sp>
      <p:sp>
        <p:nvSpPr>
          <p:cNvPr id="8" name="Text 5"/>
          <p:cNvSpPr txBox="1"/>
          <p:nvPr/>
        </p:nvSpPr>
        <p:spPr>
          <a:xfrm>
            <a:off x="822960" y="5687568"/>
            <a:ext cx="10515600" cy="548640"/>
          </a:xfrm>
          <a:prstGeom prst="rect">
            <a:avLst/>
          </a:prstGeom>
          <a:noFill/>
          <a:ln/>
        </p:spPr>
        <p:txBody>
          <a:bodyPr wrap="square" lIns="0" tIns="0" rIns="0" bIns="0" rtlCol="0" anchor="t"/>
          <a:lstStyle/>
          <a:p>
            <a:pPr algn="l" indent="0" marL="0">
              <a:buNone/>
            </a:pPr>
            <a:r>
              <a:rPr lang="en-US" sz="1700" dirty="0">
                <a:solidFill>
                  <a:srgbClr val="1A1A1A"/>
                </a:solidFill>
                <a:latin typeface="Arial" pitchFamily="34" charset="0"/>
                <a:ea typeface="Arial" pitchFamily="34" charset="-122"/>
                <a:cs typeface="Arial" pitchFamily="34" charset="-120"/>
              </a:rPr>
              <a:t>A binding position is meaningless without knowing which sequence it was measured on. One agreed transcript makes every tool's coordinates comparable.</a:t>
            </a:r>
            <a:endParaRPr lang="en-US" sz="1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685800"/>
          </a:xfrm>
          <a:prstGeom prst="rect">
            <a:avLst/>
          </a:prstGeom>
          <a:noFill/>
          <a:ln/>
        </p:spPr>
        <p:txBody>
          <a:bodyPr wrap="square" lIns="0" tIns="0" rIns="0" bIns="0" rtlCol="0" anchor="ctr"/>
          <a:lstStyle/>
          <a:p>
            <a:pPr algn="l" indent="0" marL="0">
              <a:buNone/>
            </a:pPr>
            <a:r>
              <a:rPr lang="en-US" sz="3400" b="1" dirty="0">
                <a:solidFill>
                  <a:srgbClr val="1F3864"/>
                </a:solidFill>
                <a:latin typeface="Arial" pitchFamily="34" charset="0"/>
                <a:ea typeface="Arial" pitchFamily="34" charset="-122"/>
                <a:cs typeface="Arial" pitchFamily="34" charset="-120"/>
              </a:rPr>
              <a:t>The Problem: Two Databases, Two Transcripts</a:t>
            </a:r>
            <a:endParaRPr lang="en-US" sz="3400" dirty="0"/>
          </a:p>
        </p:txBody>
      </p:sp>
      <p:sp>
        <p:nvSpPr>
          <p:cNvPr id="3" name="Text 1"/>
          <p:cNvSpPr txBox="1"/>
          <p:nvPr/>
        </p:nvSpPr>
        <p:spPr>
          <a:xfrm>
            <a:off x="548640" y="1097280"/>
            <a:ext cx="11064240" cy="548640"/>
          </a:xfrm>
          <a:prstGeom prst="rect">
            <a:avLst/>
          </a:prstGeom>
          <a:noFill/>
          <a:ln/>
        </p:spPr>
        <p:txBody>
          <a:bodyPr wrap="square" lIns="0" tIns="0" rIns="0" bIns="0" rtlCol="0" anchor="t"/>
          <a:lstStyle/>
          <a:p>
            <a:pPr algn="l" indent="0" marL="0">
              <a:buNone/>
            </a:pPr>
            <a:r>
              <a:rPr lang="en-US" sz="1900" dirty="0">
                <a:solidFill>
                  <a:srgbClr val="595959"/>
                </a:solidFill>
                <a:latin typeface="Arial" pitchFamily="34" charset="0"/>
                <a:ea typeface="Arial" pitchFamily="34" charset="-122"/>
                <a:cs typeface="Arial" pitchFamily="34" charset="-120"/>
              </a:rPr>
              <a:t>One gene can have many transcripts. Each database picks its own representative.</a:t>
            </a:r>
            <a:endParaRPr lang="en-US" sz="1900" dirty="0"/>
          </a:p>
        </p:txBody>
      </p:sp>
      <p:sp>
        <p:nvSpPr>
          <p:cNvPr id="4" name="Shape 2"/>
          <p:cNvSpPr/>
          <p:nvPr/>
        </p:nvSpPr>
        <p:spPr>
          <a:xfrm>
            <a:off x="548640" y="1691640"/>
            <a:ext cx="5257800" cy="2377440"/>
          </a:xfrm>
          <a:prstGeom prst="roundRect">
            <a:avLst>
              <a:gd name="adj" fmla="val 3077"/>
            </a:avLst>
          </a:prstGeom>
          <a:solidFill>
            <a:srgbClr val="E8F1EA"/>
          </a:solidFill>
          <a:ln w="15875">
            <a:solidFill>
              <a:srgbClr val="8FB89C"/>
            </a:solidFill>
            <a:prstDash val="solid"/>
          </a:ln>
        </p:spPr>
      </p:sp>
      <p:sp>
        <p:nvSpPr>
          <p:cNvPr id="5" name="Text 3"/>
          <p:cNvSpPr txBox="1"/>
          <p:nvPr/>
        </p:nvSpPr>
        <p:spPr>
          <a:xfrm>
            <a:off x="822960" y="1847088"/>
            <a:ext cx="4754880" cy="548640"/>
          </a:xfrm>
          <a:prstGeom prst="rect">
            <a:avLst/>
          </a:prstGeom>
          <a:noFill/>
          <a:ln/>
        </p:spPr>
        <p:txBody>
          <a:bodyPr wrap="square" lIns="0" tIns="0" rIns="0" bIns="0" rtlCol="0" anchor="t"/>
          <a:lstStyle/>
          <a:p>
            <a:pPr algn="l" indent="0" marL="0">
              <a:buNone/>
            </a:pPr>
            <a:r>
              <a:rPr lang="en-US" sz="1700" b="1" dirty="0">
                <a:solidFill>
                  <a:srgbClr val="1A6B3C"/>
                </a:solidFill>
                <a:latin typeface="Arial" pitchFamily="34" charset="0"/>
                <a:ea typeface="Arial" pitchFamily="34" charset="-122"/>
                <a:cs typeface="Arial" pitchFamily="34" charset="-120"/>
              </a:rPr>
              <a:t>OUR TOOL</a:t>
            </a:r>
            <a:endParaRPr lang="en-US" sz="1700" dirty="0"/>
          </a:p>
        </p:txBody>
      </p:sp>
      <p:sp>
        <p:nvSpPr>
          <p:cNvPr id="6" name="Text 4"/>
          <p:cNvSpPr txBox="1"/>
          <p:nvPr/>
        </p:nvSpPr>
        <p:spPr>
          <a:xfrm>
            <a:off x="822960" y="2212848"/>
            <a:ext cx="4754880" cy="548640"/>
          </a:xfrm>
          <a:prstGeom prst="rect">
            <a:avLst/>
          </a:prstGeom>
          <a:noFill/>
          <a:ln/>
        </p:spPr>
        <p:txBody>
          <a:bodyPr wrap="square" lIns="0" tIns="0" rIns="0" bIns="0" rtlCol="0" anchor="t"/>
          <a:lstStyle/>
          <a:p>
            <a:pPr algn="l" indent="0" marL="0">
              <a:buNone/>
            </a:pPr>
            <a:r>
              <a:rPr lang="en-US" sz="1900" b="1" dirty="0">
                <a:solidFill>
                  <a:srgbClr val="1A1A1A"/>
                </a:solidFill>
                <a:latin typeface="Arial" pitchFamily="34" charset="0"/>
                <a:ea typeface="Arial" pitchFamily="34" charset="-122"/>
                <a:cs typeface="Arial" pitchFamily="34" charset="-120"/>
              </a:rPr>
              <a:t>Gene TPM1</a:t>
            </a:r>
            <a:endParaRPr lang="en-US" sz="1900" dirty="0"/>
          </a:p>
        </p:txBody>
      </p:sp>
      <p:sp>
        <p:nvSpPr>
          <p:cNvPr id="7" name="Text 5"/>
          <p:cNvSpPr txBox="1"/>
          <p:nvPr/>
        </p:nvSpPr>
        <p:spPr>
          <a:xfrm>
            <a:off x="822960" y="2578608"/>
            <a:ext cx="4754880" cy="548640"/>
          </a:xfrm>
          <a:prstGeom prst="rect">
            <a:avLst/>
          </a:prstGeom>
          <a:noFill/>
          <a:ln/>
        </p:spPr>
        <p:txBody>
          <a:bodyPr wrap="square" lIns="0" tIns="0" rIns="0" bIns="0" rtlCol="0" anchor="t"/>
          <a:lstStyle/>
          <a:p>
            <a:pPr algn="l" indent="0" marL="0">
              <a:buNone/>
            </a:pPr>
            <a:r>
              <a:rPr lang="en-US" sz="1800" dirty="0">
                <a:solidFill>
                  <a:srgbClr val="1A1A1A"/>
                </a:solidFill>
                <a:latin typeface="Arial" pitchFamily="34" charset="0"/>
                <a:ea typeface="Arial" pitchFamily="34" charset="-122"/>
                <a:cs typeface="Arial" pitchFamily="34" charset="-120"/>
              </a:rPr>
              <a:t>MANE Select  →  Transcript A</a:t>
            </a:r>
            <a:endParaRPr lang="en-US" sz="1800" dirty="0"/>
          </a:p>
        </p:txBody>
      </p:sp>
      <p:sp>
        <p:nvSpPr>
          <p:cNvPr id="8" name="Text 6"/>
          <p:cNvSpPr txBox="1"/>
          <p:nvPr/>
        </p:nvSpPr>
        <p:spPr>
          <a:xfrm>
            <a:off x="822960" y="2944368"/>
            <a:ext cx="4754880" cy="548640"/>
          </a:xfrm>
          <a:prstGeom prst="rect">
            <a:avLst/>
          </a:prstGeom>
          <a:noFill/>
          <a:ln/>
        </p:spPr>
        <p:txBody>
          <a:bodyPr wrap="square" lIns="0" tIns="0" rIns="0" bIns="0" rtlCol="0" anchor="t"/>
          <a:lstStyle/>
          <a:p>
            <a:pPr algn="l" indent="0" marL="0">
              <a:buNone/>
            </a:pPr>
            <a:r>
              <a:rPr lang="en-US" sz="1800" dirty="0">
                <a:solidFill>
                  <a:srgbClr val="1A1A1A"/>
                </a:solidFill>
                <a:latin typeface="Arial" pitchFamily="34" charset="0"/>
                <a:ea typeface="Arial" pitchFamily="34" charset="-122"/>
                <a:cs typeface="Arial" pitchFamily="34" charset="-120"/>
              </a:rPr>
              <a:t>Seed Analyser scans sequence A</a:t>
            </a:r>
            <a:endParaRPr lang="en-US" sz="1800" dirty="0"/>
          </a:p>
        </p:txBody>
      </p:sp>
      <p:sp>
        <p:nvSpPr>
          <p:cNvPr id="9" name="Text 7"/>
          <p:cNvSpPr txBox="1"/>
          <p:nvPr/>
        </p:nvSpPr>
        <p:spPr>
          <a:xfrm>
            <a:off x="822960" y="3310128"/>
            <a:ext cx="4754880" cy="548640"/>
          </a:xfrm>
          <a:prstGeom prst="rect">
            <a:avLst/>
          </a:prstGeom>
          <a:noFill/>
          <a:ln/>
        </p:spPr>
        <p:txBody>
          <a:bodyPr wrap="square" lIns="0" tIns="0" rIns="0" bIns="0" rtlCol="0" anchor="t"/>
          <a:lstStyle/>
          <a:p>
            <a:pPr algn="l" indent="0" marL="0">
              <a:buNone/>
            </a:pPr>
            <a:r>
              <a:rPr lang="en-US" sz="1800" dirty="0">
                <a:solidFill>
                  <a:srgbClr val="1A1A1A"/>
                </a:solidFill>
                <a:latin typeface="Arial" pitchFamily="34" charset="0"/>
                <a:ea typeface="Arial" pitchFamily="34" charset="-122"/>
                <a:cs typeface="Arial" pitchFamily="34" charset="-120"/>
              </a:rPr>
              <a:t>RNAhybrid folds sequence A</a:t>
            </a:r>
            <a:endParaRPr lang="en-US" sz="1800" dirty="0"/>
          </a:p>
        </p:txBody>
      </p:sp>
      <p:sp>
        <p:nvSpPr>
          <p:cNvPr id="10" name="Text 8"/>
          <p:cNvSpPr txBox="1"/>
          <p:nvPr/>
        </p:nvSpPr>
        <p:spPr>
          <a:xfrm>
            <a:off x="822960" y="3675888"/>
            <a:ext cx="4754880" cy="548640"/>
          </a:xfrm>
          <a:prstGeom prst="rect">
            <a:avLst/>
          </a:prstGeom>
          <a:noFill/>
          <a:ln/>
        </p:spPr>
        <p:txBody>
          <a:bodyPr wrap="square" lIns="0" tIns="0" rIns="0" bIns="0" rtlCol="0" anchor="t"/>
          <a:lstStyle/>
          <a:p>
            <a:pPr algn="l" indent="0" marL="0">
              <a:buNone/>
            </a:pPr>
            <a:r>
              <a:rPr lang="en-US" sz="1700" dirty="0">
                <a:solidFill>
                  <a:srgbClr val="595959"/>
                </a:solidFill>
                <a:latin typeface="Arial" pitchFamily="34" charset="0"/>
                <a:ea typeface="Arial" pitchFamily="34" charset="-122"/>
                <a:cs typeface="Arial" pitchFamily="34" charset="-120"/>
              </a:rPr>
              <a:t>Position 1,126 means a place on A</a:t>
            </a:r>
            <a:endParaRPr lang="en-US" sz="1700" dirty="0"/>
          </a:p>
        </p:txBody>
      </p:sp>
      <p:sp>
        <p:nvSpPr>
          <p:cNvPr id="11" name="Shape 9"/>
          <p:cNvSpPr/>
          <p:nvPr/>
        </p:nvSpPr>
        <p:spPr>
          <a:xfrm>
            <a:off x="6355080" y="1691640"/>
            <a:ext cx="5257800" cy="2377440"/>
          </a:xfrm>
          <a:prstGeom prst="roundRect">
            <a:avLst>
              <a:gd name="adj" fmla="val 3077"/>
            </a:avLst>
          </a:prstGeom>
          <a:solidFill>
            <a:srgbClr val="FBEDEC"/>
          </a:solidFill>
          <a:ln w="15875">
            <a:solidFill>
              <a:srgbClr val="D9A6A2"/>
            </a:solidFill>
            <a:prstDash val="solid"/>
          </a:ln>
        </p:spPr>
      </p:sp>
      <p:sp>
        <p:nvSpPr>
          <p:cNvPr id="12" name="Text 10"/>
          <p:cNvSpPr txBox="1"/>
          <p:nvPr/>
        </p:nvSpPr>
        <p:spPr>
          <a:xfrm>
            <a:off x="6629400" y="1847088"/>
            <a:ext cx="4754880" cy="548640"/>
          </a:xfrm>
          <a:prstGeom prst="rect">
            <a:avLst/>
          </a:prstGeom>
          <a:noFill/>
          <a:ln/>
        </p:spPr>
        <p:txBody>
          <a:bodyPr wrap="square" lIns="0" tIns="0" rIns="0" bIns="0" rtlCol="0" anchor="t"/>
          <a:lstStyle/>
          <a:p>
            <a:pPr algn="l" indent="0" marL="0">
              <a:buNone/>
            </a:pPr>
            <a:r>
              <a:rPr lang="en-US" sz="1700" b="1" dirty="0">
                <a:solidFill>
                  <a:srgbClr val="B22222"/>
                </a:solidFill>
                <a:latin typeface="Arial" pitchFamily="34" charset="0"/>
                <a:ea typeface="Arial" pitchFamily="34" charset="-122"/>
                <a:cs typeface="Arial" pitchFamily="34" charset="-120"/>
              </a:rPr>
              <a:t>TARGETSCAN</a:t>
            </a:r>
            <a:endParaRPr lang="en-US" sz="1700" dirty="0"/>
          </a:p>
        </p:txBody>
      </p:sp>
      <p:sp>
        <p:nvSpPr>
          <p:cNvPr id="13" name="Text 11"/>
          <p:cNvSpPr txBox="1"/>
          <p:nvPr/>
        </p:nvSpPr>
        <p:spPr>
          <a:xfrm>
            <a:off x="6629400" y="2212848"/>
            <a:ext cx="4754880" cy="548640"/>
          </a:xfrm>
          <a:prstGeom prst="rect">
            <a:avLst/>
          </a:prstGeom>
          <a:noFill/>
          <a:ln/>
        </p:spPr>
        <p:txBody>
          <a:bodyPr wrap="square" lIns="0" tIns="0" rIns="0" bIns="0" rtlCol="0" anchor="t"/>
          <a:lstStyle/>
          <a:p>
            <a:pPr algn="l" indent="0" marL="0">
              <a:buNone/>
            </a:pPr>
            <a:r>
              <a:rPr lang="en-US" sz="1900" b="1" dirty="0">
                <a:solidFill>
                  <a:srgbClr val="1A1A1A"/>
                </a:solidFill>
                <a:latin typeface="Arial" pitchFamily="34" charset="0"/>
                <a:ea typeface="Arial" pitchFamily="34" charset="-122"/>
                <a:cs typeface="Arial" pitchFamily="34" charset="-120"/>
              </a:rPr>
              <a:t>Gene TPM1</a:t>
            </a:r>
            <a:endParaRPr lang="en-US" sz="1900" dirty="0"/>
          </a:p>
        </p:txBody>
      </p:sp>
      <p:sp>
        <p:nvSpPr>
          <p:cNvPr id="14" name="Text 12"/>
          <p:cNvSpPr txBox="1"/>
          <p:nvPr/>
        </p:nvSpPr>
        <p:spPr>
          <a:xfrm>
            <a:off x="6629400" y="2578608"/>
            <a:ext cx="4754880" cy="548640"/>
          </a:xfrm>
          <a:prstGeom prst="rect">
            <a:avLst/>
          </a:prstGeom>
          <a:noFill/>
          <a:ln/>
        </p:spPr>
        <p:txBody>
          <a:bodyPr wrap="square" lIns="0" tIns="0" rIns="0" bIns="0" rtlCol="0" anchor="t"/>
          <a:lstStyle/>
          <a:p>
            <a:pPr algn="l" indent="0" marL="0">
              <a:buNone/>
            </a:pPr>
            <a:r>
              <a:rPr lang="en-US" sz="1800" dirty="0">
                <a:solidFill>
                  <a:srgbClr val="1A1A1A"/>
                </a:solidFill>
                <a:latin typeface="Arial" pitchFamily="34" charset="0"/>
                <a:ea typeface="Arial" pitchFamily="34" charset="-122"/>
                <a:cs typeface="Arial" pitchFamily="34" charset="-120"/>
              </a:rPr>
              <a:t>Its own choice  →  Transcript B</a:t>
            </a:r>
            <a:endParaRPr lang="en-US" sz="1800" dirty="0"/>
          </a:p>
        </p:txBody>
      </p:sp>
      <p:sp>
        <p:nvSpPr>
          <p:cNvPr id="15" name="Text 13"/>
          <p:cNvSpPr txBox="1"/>
          <p:nvPr/>
        </p:nvSpPr>
        <p:spPr>
          <a:xfrm>
            <a:off x="6629400" y="2944368"/>
            <a:ext cx="4754880" cy="548640"/>
          </a:xfrm>
          <a:prstGeom prst="rect">
            <a:avLst/>
          </a:prstGeom>
          <a:noFill/>
          <a:ln/>
        </p:spPr>
        <p:txBody>
          <a:bodyPr wrap="square" lIns="0" tIns="0" rIns="0" bIns="0" rtlCol="0" anchor="t"/>
          <a:lstStyle/>
          <a:p>
            <a:pPr algn="l" indent="0" marL="0">
              <a:buNone/>
            </a:pPr>
            <a:r>
              <a:rPr lang="en-US" sz="1800" dirty="0">
                <a:solidFill>
                  <a:srgbClr val="1A1A1A"/>
                </a:solidFill>
                <a:latin typeface="Arial" pitchFamily="34" charset="0"/>
                <a:ea typeface="Arial" pitchFamily="34" charset="-122"/>
                <a:cs typeface="Arial" pitchFamily="34" charset="-120"/>
              </a:rPr>
              <a:t>Predictions precomputed on B</a:t>
            </a:r>
            <a:endParaRPr lang="en-US" sz="1800" dirty="0"/>
          </a:p>
        </p:txBody>
      </p:sp>
      <p:sp>
        <p:nvSpPr>
          <p:cNvPr id="16" name="Text 14"/>
          <p:cNvSpPr txBox="1"/>
          <p:nvPr/>
        </p:nvSpPr>
        <p:spPr>
          <a:xfrm>
            <a:off x="6629400" y="3310128"/>
            <a:ext cx="4754880" cy="548640"/>
          </a:xfrm>
          <a:prstGeom prst="rect">
            <a:avLst/>
          </a:prstGeom>
          <a:noFill/>
          <a:ln/>
        </p:spPr>
        <p:txBody>
          <a:bodyPr wrap="square" lIns="0" tIns="0" rIns="0" bIns="0" rtlCol="0" anchor="t"/>
          <a:lstStyle/>
          <a:p>
            <a:pPr algn="l" indent="0" marL="0">
              <a:buNone/>
            </a:pPr>
            <a:r>
              <a:rPr lang="en-US" sz="1800" dirty="0">
                <a:solidFill>
                  <a:srgbClr val="1A1A1A"/>
                </a:solidFill>
                <a:latin typeface="Arial" pitchFamily="34" charset="0"/>
                <a:ea typeface="Arial" pitchFamily="34" charset="-122"/>
                <a:cs typeface="Arial" pitchFamily="34" charset="-120"/>
              </a:rPr>
              <a:t>Shipped with its own coordinates</a:t>
            </a:r>
            <a:endParaRPr lang="en-US" sz="1800" dirty="0"/>
          </a:p>
        </p:txBody>
      </p:sp>
      <p:sp>
        <p:nvSpPr>
          <p:cNvPr id="17" name="Text 15"/>
          <p:cNvSpPr txBox="1"/>
          <p:nvPr/>
        </p:nvSpPr>
        <p:spPr>
          <a:xfrm>
            <a:off x="6629400" y="3675888"/>
            <a:ext cx="4754880" cy="548640"/>
          </a:xfrm>
          <a:prstGeom prst="rect">
            <a:avLst/>
          </a:prstGeom>
          <a:noFill/>
          <a:ln/>
        </p:spPr>
        <p:txBody>
          <a:bodyPr wrap="square" lIns="0" tIns="0" rIns="0" bIns="0" rtlCol="0" anchor="t"/>
          <a:lstStyle/>
          <a:p>
            <a:pPr algn="l" indent="0" marL="0">
              <a:buNone/>
            </a:pPr>
            <a:r>
              <a:rPr lang="en-US" sz="1700" dirty="0">
                <a:solidFill>
                  <a:srgbClr val="595959"/>
                </a:solidFill>
                <a:latin typeface="Arial" pitchFamily="34" charset="0"/>
                <a:ea typeface="Arial" pitchFamily="34" charset="-122"/>
                <a:cs typeface="Arial" pitchFamily="34" charset="-120"/>
              </a:rPr>
              <a:t>Position 1,126 means a place on B</a:t>
            </a:r>
            <a:endParaRPr lang="en-US" sz="1700" dirty="0"/>
          </a:p>
        </p:txBody>
      </p:sp>
      <p:sp>
        <p:nvSpPr>
          <p:cNvPr id="18" name="Shape 16"/>
          <p:cNvSpPr/>
          <p:nvPr/>
        </p:nvSpPr>
        <p:spPr>
          <a:xfrm>
            <a:off x="548640" y="4434840"/>
            <a:ext cx="11064240" cy="1737360"/>
          </a:xfrm>
          <a:prstGeom prst="roundRect">
            <a:avLst>
              <a:gd name="adj" fmla="val 4211"/>
            </a:avLst>
          </a:prstGeom>
          <a:solidFill>
            <a:srgbClr val="FDF6E3"/>
          </a:solidFill>
          <a:ln w="15875">
            <a:solidFill>
              <a:srgbClr val="D8C089"/>
            </a:solidFill>
            <a:prstDash val="solid"/>
          </a:ln>
        </p:spPr>
      </p:sp>
      <p:sp>
        <p:nvSpPr>
          <p:cNvPr id="19" name="Text 17"/>
          <p:cNvSpPr txBox="1"/>
          <p:nvPr/>
        </p:nvSpPr>
        <p:spPr>
          <a:xfrm>
            <a:off x="822960" y="4617720"/>
            <a:ext cx="10515600" cy="548640"/>
          </a:xfrm>
          <a:prstGeom prst="rect">
            <a:avLst/>
          </a:prstGeom>
          <a:noFill/>
          <a:ln/>
        </p:spPr>
        <p:txBody>
          <a:bodyPr wrap="square" lIns="0" tIns="0" rIns="0" bIns="0" rtlCol="0" anchor="t"/>
          <a:lstStyle/>
          <a:p>
            <a:pPr algn="l" indent="0" marL="0">
              <a:buNone/>
            </a:pPr>
            <a:r>
              <a:rPr lang="en-US" sz="2000" b="1" dirty="0">
                <a:solidFill>
                  <a:srgbClr val="B22222"/>
                </a:solidFill>
                <a:latin typeface="Arial" pitchFamily="34" charset="0"/>
                <a:ea typeface="Arial" pitchFamily="34" charset="-122"/>
                <a:cs typeface="Arial" pitchFamily="34" charset="-120"/>
              </a:rPr>
              <a:t>So the same number means two different things</a:t>
            </a:r>
            <a:endParaRPr lang="en-US" sz="2000" dirty="0"/>
          </a:p>
        </p:txBody>
      </p:sp>
      <p:sp>
        <p:nvSpPr>
          <p:cNvPr id="20" name="Text 18"/>
          <p:cNvSpPr txBox="1"/>
          <p:nvPr/>
        </p:nvSpPr>
        <p:spPr>
          <a:xfrm>
            <a:off x="822960" y="5029200"/>
            <a:ext cx="10515600" cy="1005840"/>
          </a:xfrm>
          <a:prstGeom prst="rect">
            <a:avLst/>
          </a:prstGeom>
          <a:noFill/>
          <a:ln/>
        </p:spPr>
        <p:txBody>
          <a:bodyPr wrap="square" lIns="0" tIns="0" rIns="0" bIns="0" rtlCol="0" anchor="t"/>
          <a:lstStyle/>
          <a:p>
            <a:pPr algn="l" indent="0" marL="0">
              <a:buNone/>
            </a:pPr>
            <a:r>
              <a:rPr lang="en-US" sz="1800" dirty="0">
                <a:solidFill>
                  <a:srgbClr val="1A1A1A"/>
                </a:solidFill>
                <a:latin typeface="Arial" pitchFamily="34" charset="0"/>
                <a:ea typeface="Arial" pitchFamily="34" charset="-122"/>
                <a:cs typeface="Arial" pitchFamily="34" charset="-120"/>
              </a:rPr>
              <a:t>If TargetScan says "site at position 1,126", that position cannot simply be placed on our transcript. On a different transcript the site may sit elsewhere, be in a different exon, or not exist at all.</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685800"/>
          </a:xfrm>
          <a:prstGeom prst="rect">
            <a:avLst/>
          </a:prstGeom>
          <a:noFill/>
          <a:ln/>
        </p:spPr>
        <p:txBody>
          <a:bodyPr wrap="square" lIns="0" tIns="0" rIns="0" bIns="0" rtlCol="0" anchor="ctr"/>
          <a:lstStyle/>
          <a:p>
            <a:pPr algn="l" indent="0" marL="0">
              <a:buNone/>
            </a:pPr>
            <a:r>
              <a:rPr lang="en-US" sz="3400" b="1" dirty="0">
                <a:solidFill>
                  <a:srgbClr val="1F3864"/>
                </a:solidFill>
                <a:latin typeface="Arial" pitchFamily="34" charset="0"/>
                <a:ea typeface="Arial" pitchFamily="34" charset="-122"/>
                <a:cs typeface="Arial" pitchFamily="34" charset="-120"/>
              </a:rPr>
              <a:t>We Did Not Assume It — We Measured It</a:t>
            </a:r>
            <a:endParaRPr lang="en-US" sz="3400" dirty="0"/>
          </a:p>
        </p:txBody>
      </p:sp>
      <p:sp>
        <p:nvSpPr>
          <p:cNvPr id="3" name="Text 1"/>
          <p:cNvSpPr txBox="1"/>
          <p:nvPr/>
        </p:nvSpPr>
        <p:spPr>
          <a:xfrm>
            <a:off x="548640" y="1078992"/>
            <a:ext cx="11064240" cy="548640"/>
          </a:xfrm>
          <a:prstGeom prst="rect">
            <a:avLst/>
          </a:prstGeom>
          <a:noFill/>
          <a:ln/>
        </p:spPr>
        <p:txBody>
          <a:bodyPr wrap="square" lIns="0" tIns="0" rIns="0" bIns="0" rtlCol="0" anchor="t"/>
          <a:lstStyle/>
          <a:p>
            <a:pPr algn="l" indent="0" marL="0">
              <a:buNone/>
            </a:pPr>
            <a:r>
              <a:rPr lang="en-US" sz="1800" dirty="0">
                <a:solidFill>
                  <a:srgbClr val="595959"/>
                </a:solidFill>
                <a:latin typeface="Arial" pitchFamily="34" charset="0"/>
                <a:ea typeface="Arial" pitchFamily="34" charset="-122"/>
                <a:cs typeface="Arial" pitchFamily="34" charset="-120"/>
              </a:rPr>
              <a:t>Scripts:  targetscan_basis.py  and  check_targetscan_join.py        Run: 7 September 2026</a:t>
            </a:r>
            <a:endParaRPr lang="en-US" sz="1800" dirty="0"/>
          </a:p>
        </p:txBody>
      </p:sp>
      <p:sp>
        <p:nvSpPr>
          <p:cNvPr id="4" name="Text 2"/>
          <p:cNvSpPr txBox="1"/>
          <p:nvPr/>
        </p:nvSpPr>
        <p:spPr>
          <a:xfrm>
            <a:off x="548640" y="1444752"/>
            <a:ext cx="11064240" cy="548640"/>
          </a:xfrm>
          <a:prstGeom prst="rect">
            <a:avLst/>
          </a:prstGeom>
          <a:noFill/>
          <a:ln/>
        </p:spPr>
        <p:txBody>
          <a:bodyPr wrap="square" lIns="0" tIns="0" rIns="0" bIns="0" rtlCol="0" anchor="t"/>
          <a:lstStyle/>
          <a:p>
            <a:pPr algn="l" indent="0" marL="0">
              <a:buNone/>
            </a:pPr>
            <a:r>
              <a:rPr lang="en-US" sz="1800" dirty="0">
                <a:solidFill>
                  <a:srgbClr val="595959"/>
                </a:solidFill>
                <a:latin typeface="Arial" pitchFamily="34" charset="0"/>
                <a:ea typeface="Arial" pitchFamily="34" charset="-122"/>
                <a:cs typeface="Arial" pitchFamily="34" charset="-120"/>
              </a:rPr>
              <a:t>Source file: TargetScan Gene_info — 28,352 human transcripts across 19,474 genes</a:t>
            </a:r>
            <a:endParaRPr lang="en-US" sz="1800" dirty="0"/>
          </a:p>
        </p:txBody>
      </p:sp>
      <p:sp>
        <p:nvSpPr>
          <p:cNvPr id="5" name="Text 3"/>
          <p:cNvSpPr txBox="1"/>
          <p:nvPr/>
        </p:nvSpPr>
        <p:spPr>
          <a:xfrm>
            <a:off x="548640" y="1965960"/>
            <a:ext cx="11064240" cy="457200"/>
          </a:xfrm>
          <a:prstGeom prst="rect">
            <a:avLst/>
          </a:prstGeom>
          <a:noFill/>
          <a:ln/>
        </p:spPr>
        <p:txBody>
          <a:bodyPr wrap="square" lIns="0" tIns="0" rIns="0" bIns="0" rtlCol="0" anchor="t"/>
          <a:lstStyle/>
          <a:p>
            <a:pPr algn="l" indent="0" marL="0">
              <a:buNone/>
            </a:pPr>
            <a:r>
              <a:rPr lang="en-US" sz="1900" b="1" dirty="0">
                <a:solidFill>
                  <a:srgbClr val="1F3864"/>
                </a:solidFill>
                <a:latin typeface="Arial" pitchFamily="34" charset="0"/>
                <a:ea typeface="Arial" pitchFamily="34" charset="-122"/>
                <a:cs typeface="Arial" pitchFamily="34" charset="-120"/>
              </a:rPr>
              <a:t>Question:  For each gene, is TargetScan's representative transcript the same as MANE Select?</a:t>
            </a:r>
            <a:endParaRPr lang="en-US" sz="19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48640" y="2468880"/>
          <a:ext cx="11064240" cy="914400"/>
        </p:xfrm>
        <a:graphic>
          <a:graphicData uri="http://schemas.openxmlformats.org/drawingml/2006/table">
            <a:tbl>
              <a:tblPr/>
              <a:tblGrid>
                <a:gridCol w="6675120"/>
                <a:gridCol w="2194560"/>
                <a:gridCol w="2194560"/>
              </a:tblGrid>
              <a:tr h="457200">
                <a:tc>
                  <a:txBody>
                    <a:bodyPr/>
                    <a:lstStyle/>
                    <a:p>
                      <a:pPr algn="l" indent="0" marL="0">
                        <a:buNone/>
                      </a:pPr>
                      <a:r>
                        <a:rPr lang="en-US" sz="1700" b="1" dirty="0">
                          <a:solidFill>
                            <a:srgbClr val="1F3864"/>
                          </a:solidFill>
                          <a:latin typeface="Arial" pitchFamily="34" charset="0"/>
                          <a:ea typeface="Arial" pitchFamily="34" charset="-122"/>
                          <a:cs typeface="Arial" pitchFamily="34" charset="-120"/>
                        </a:rPr>
                        <a:t>Result</a:t>
                      </a:r>
                      <a:endParaRPr lang="en-US" sz="1700" dirty="0">
                        <a:latin typeface="Arial" charset="0"/>
                        <a:ea typeface="Arial" charset="0"/>
                        <a:cs typeface="Arial" charset="0"/>
                      </a:endParaRPr>
                    </a:p>
                  </a:txBody>
                  <a:tcPr marL="73152" marR="73152" marT="73152" marB="73152" anchor="ctr">
                    <a:lnL w="12700" cap="flat" cmpd="sng" algn="ctr">
                      <a:solidFill>
                        <a:srgbClr val="BFC9D9"/>
                      </a:solidFill>
                      <a:prstDash val="solid"/>
                      <a:round/>
                      <a:headEnd type="none" w="med" len="med"/>
                      <a:tailEnd type="none" w="med" len="med"/>
                    </a:lnL>
                    <a:lnR w="12700" cap="flat" cmpd="sng" algn="ctr">
                      <a:solidFill>
                        <a:srgbClr val="BFC9D9"/>
                      </a:solidFill>
                      <a:prstDash val="solid"/>
                      <a:round/>
                      <a:headEnd type="none" w="med" len="med"/>
                      <a:tailEnd type="none" w="med" len="med"/>
                    </a:lnR>
                    <a:lnT w="12700" cap="flat" cmpd="sng" algn="ctr">
                      <a:solidFill>
                        <a:srgbClr val="BFC9D9"/>
                      </a:solidFill>
                      <a:prstDash val="solid"/>
                      <a:round/>
                      <a:headEnd type="none" w="med" len="med"/>
                      <a:tailEnd type="none" w="med" len="med"/>
                    </a:lnT>
                    <a:lnB w="12700" cap="flat" cmpd="sng" algn="ctr">
                      <a:solidFill>
                        <a:srgbClr val="BFC9D9"/>
                      </a:solidFill>
                      <a:prstDash val="solid"/>
                      <a:round/>
                      <a:headEnd type="none" w="med" len="med"/>
                      <a:tailEnd type="none" w="med" len="med"/>
                    </a:lnB>
                    <a:solidFill>
                      <a:srgbClr val="D9E2F0"/>
                    </a:solidFill>
                  </a:tcPr>
                </a:tc>
                <a:tc>
                  <a:txBody>
                    <a:bodyPr/>
                    <a:lstStyle/>
                    <a:p>
                      <a:pPr algn="l" indent="0" marL="0">
                        <a:buNone/>
                      </a:pPr>
                      <a:r>
                        <a:rPr lang="en-US" sz="1700" b="1" dirty="0">
                          <a:solidFill>
                            <a:srgbClr val="1F3864"/>
                          </a:solidFill>
                          <a:latin typeface="Arial" pitchFamily="34" charset="0"/>
                          <a:ea typeface="Arial" pitchFamily="34" charset="-122"/>
                          <a:cs typeface="Arial" pitchFamily="34" charset="-120"/>
                        </a:rPr>
                        <a:t>Genes</a:t>
                      </a:r>
                      <a:endParaRPr lang="en-US" sz="1700" dirty="0">
                        <a:latin typeface="Arial" charset="0"/>
                        <a:ea typeface="Arial" charset="0"/>
                        <a:cs typeface="Arial" charset="0"/>
                      </a:endParaRPr>
                    </a:p>
                  </a:txBody>
                  <a:tcPr marL="73152" marR="73152" marT="73152" marB="73152" anchor="ctr">
                    <a:lnL w="12700" cap="flat" cmpd="sng" algn="ctr">
                      <a:solidFill>
                        <a:srgbClr val="BFC9D9"/>
                      </a:solidFill>
                      <a:prstDash val="solid"/>
                      <a:round/>
                      <a:headEnd type="none" w="med" len="med"/>
                      <a:tailEnd type="none" w="med" len="med"/>
                    </a:lnL>
                    <a:lnR w="12700" cap="flat" cmpd="sng" algn="ctr">
                      <a:solidFill>
                        <a:srgbClr val="BFC9D9"/>
                      </a:solidFill>
                      <a:prstDash val="solid"/>
                      <a:round/>
                      <a:headEnd type="none" w="med" len="med"/>
                      <a:tailEnd type="none" w="med" len="med"/>
                    </a:lnR>
                    <a:lnT w="12700" cap="flat" cmpd="sng" algn="ctr">
                      <a:solidFill>
                        <a:srgbClr val="BFC9D9"/>
                      </a:solidFill>
                      <a:prstDash val="solid"/>
                      <a:round/>
                      <a:headEnd type="none" w="med" len="med"/>
                      <a:tailEnd type="none" w="med" len="med"/>
                    </a:lnT>
                    <a:lnB w="12700" cap="flat" cmpd="sng" algn="ctr">
                      <a:solidFill>
                        <a:srgbClr val="BFC9D9"/>
                      </a:solidFill>
                      <a:prstDash val="solid"/>
                      <a:round/>
                      <a:headEnd type="none" w="med" len="med"/>
                      <a:tailEnd type="none" w="med" len="med"/>
                    </a:lnB>
                    <a:solidFill>
                      <a:srgbClr val="D9E2F0"/>
                    </a:solidFill>
                  </a:tcPr>
                </a:tc>
                <a:tc>
                  <a:txBody>
                    <a:bodyPr/>
                    <a:lstStyle/>
                    <a:p>
                      <a:pPr algn="l" indent="0" marL="0">
                        <a:buNone/>
                      </a:pPr>
                      <a:r>
                        <a:rPr lang="en-US" sz="1700" b="1" dirty="0">
                          <a:solidFill>
                            <a:srgbClr val="1F3864"/>
                          </a:solidFill>
                          <a:latin typeface="Arial" pitchFamily="34" charset="0"/>
                          <a:ea typeface="Arial" pitchFamily="34" charset="-122"/>
                          <a:cs typeface="Arial" pitchFamily="34" charset="-120"/>
                        </a:rPr>
                        <a:t>Share</a:t>
                      </a:r>
                      <a:endParaRPr lang="en-US" sz="1700" dirty="0">
                        <a:latin typeface="Arial" charset="0"/>
                        <a:ea typeface="Arial" charset="0"/>
                        <a:cs typeface="Arial" charset="0"/>
                      </a:endParaRPr>
                    </a:p>
                  </a:txBody>
                  <a:tcPr marL="73152" marR="73152" marT="73152" marB="73152" anchor="ctr">
                    <a:lnL w="12700" cap="flat" cmpd="sng" algn="ctr">
                      <a:solidFill>
                        <a:srgbClr val="BFC9D9"/>
                      </a:solidFill>
                      <a:prstDash val="solid"/>
                      <a:round/>
                      <a:headEnd type="none" w="med" len="med"/>
                      <a:tailEnd type="none" w="med" len="med"/>
                    </a:lnL>
                    <a:lnR w="12700" cap="flat" cmpd="sng" algn="ctr">
                      <a:solidFill>
                        <a:srgbClr val="BFC9D9"/>
                      </a:solidFill>
                      <a:prstDash val="solid"/>
                      <a:round/>
                      <a:headEnd type="none" w="med" len="med"/>
                      <a:tailEnd type="none" w="med" len="med"/>
                    </a:lnR>
                    <a:lnT w="12700" cap="flat" cmpd="sng" algn="ctr">
                      <a:solidFill>
                        <a:srgbClr val="BFC9D9"/>
                      </a:solidFill>
                      <a:prstDash val="solid"/>
                      <a:round/>
                      <a:headEnd type="none" w="med" len="med"/>
                      <a:tailEnd type="none" w="med" len="med"/>
                    </a:lnT>
                    <a:lnB w="12700" cap="flat" cmpd="sng" algn="ctr">
                      <a:solidFill>
                        <a:srgbClr val="BFC9D9"/>
                      </a:solidFill>
                      <a:prstDash val="solid"/>
                      <a:round/>
                      <a:headEnd type="none" w="med" len="med"/>
                      <a:tailEnd type="none" w="med" len="med"/>
                    </a:lnB>
                    <a:solidFill>
                      <a:srgbClr val="D9E2F0"/>
                    </a:solidFill>
                  </a:tcPr>
                </a:tc>
              </a:tr>
              <a:tr h="457200">
                <a:tc>
                  <a:txBody>
                    <a:bodyPr/>
                    <a:lstStyle/>
                    <a:p>
                      <a:pPr algn="l" indent="0" marL="0">
                        <a:buNone/>
                      </a:pPr>
                      <a:r>
                        <a:rPr lang="en-US" sz="1700" dirty="0">
                          <a:solidFill>
                            <a:srgbClr val="1A1A1A"/>
                          </a:solidFill>
                          <a:latin typeface="Arial" pitchFamily="34" charset="0"/>
                          <a:ea typeface="Arial" pitchFamily="34" charset="-122"/>
                          <a:cs typeface="Arial" pitchFamily="34" charset="-120"/>
                        </a:rPr>
                        <a:t>TargetScan transcript IS the MANE transcript</a:t>
                      </a:r>
                      <a:endParaRPr lang="en-US" sz="1700" dirty="0">
                        <a:latin typeface="Arial" charset="0"/>
                        <a:ea typeface="Arial" charset="0"/>
                        <a:cs typeface="Arial" charset="0"/>
                      </a:endParaRPr>
                    </a:p>
                  </a:txBody>
                  <a:tcPr marL="73152" marR="73152" marT="73152" marB="73152" anchor="ctr">
                    <a:lnL w="12700" cap="flat" cmpd="sng" algn="ctr">
                      <a:solidFill>
                        <a:srgbClr val="BFC9D9"/>
                      </a:solidFill>
                      <a:prstDash val="solid"/>
                      <a:round/>
                      <a:headEnd type="none" w="med" len="med"/>
                      <a:tailEnd type="none" w="med" len="med"/>
                    </a:lnL>
                    <a:lnR w="12700" cap="flat" cmpd="sng" algn="ctr">
                      <a:solidFill>
                        <a:srgbClr val="BFC9D9"/>
                      </a:solidFill>
                      <a:prstDash val="solid"/>
                      <a:round/>
                      <a:headEnd type="none" w="med" len="med"/>
                      <a:tailEnd type="none" w="med" len="med"/>
                    </a:lnR>
                    <a:lnT w="12700" cap="flat" cmpd="sng" algn="ctr">
                      <a:solidFill>
                        <a:srgbClr val="BFC9D9"/>
                      </a:solidFill>
                      <a:prstDash val="solid"/>
                      <a:round/>
                      <a:headEnd type="none" w="med" len="med"/>
                      <a:tailEnd type="none" w="med" len="med"/>
                    </a:lnT>
                    <a:lnB w="12700" cap="flat" cmpd="sng" algn="ctr">
                      <a:solidFill>
                        <a:srgbClr val="BFC9D9"/>
                      </a:solidFill>
                      <a:prstDash val="solid"/>
                      <a:round/>
                      <a:headEnd type="none" w="med" len="med"/>
                      <a:tailEnd type="none" w="med" len="med"/>
                    </a:lnB>
                    <a:solidFill>
                      <a:srgbClr val="F2F4F7"/>
                    </a:solidFill>
                  </a:tcPr>
                </a:tc>
                <a:tc>
                  <a:txBody>
                    <a:bodyPr/>
                    <a:lstStyle/>
                    <a:p>
                      <a:pPr algn="l" indent="0" marL="0">
                        <a:buNone/>
                      </a:pPr>
                      <a:r>
                        <a:rPr lang="en-US" sz="1700" b="1" dirty="0">
                          <a:solidFill>
                            <a:srgbClr val="1A1A1A"/>
                          </a:solidFill>
                          <a:latin typeface="Arial" pitchFamily="34" charset="0"/>
                          <a:ea typeface="Arial" pitchFamily="34" charset="-122"/>
                          <a:cs typeface="Arial" pitchFamily="34" charset="-120"/>
                        </a:rPr>
                        <a:t>11,372</a:t>
                      </a:r>
                      <a:endParaRPr lang="en-US" sz="1700" dirty="0">
                        <a:latin typeface="Arial" charset="0"/>
                        <a:ea typeface="Arial" charset="0"/>
                        <a:cs typeface="Arial" charset="0"/>
                      </a:endParaRPr>
                    </a:p>
                  </a:txBody>
                  <a:tcPr marL="73152" marR="73152" marT="73152" marB="73152" anchor="ctr">
                    <a:lnL w="12700" cap="flat" cmpd="sng" algn="ctr">
                      <a:solidFill>
                        <a:srgbClr val="BFC9D9"/>
                      </a:solidFill>
                      <a:prstDash val="solid"/>
                      <a:round/>
                      <a:headEnd type="none" w="med" len="med"/>
                      <a:tailEnd type="none" w="med" len="med"/>
                    </a:lnL>
                    <a:lnR w="12700" cap="flat" cmpd="sng" algn="ctr">
                      <a:solidFill>
                        <a:srgbClr val="BFC9D9"/>
                      </a:solidFill>
                      <a:prstDash val="solid"/>
                      <a:round/>
                      <a:headEnd type="none" w="med" len="med"/>
                      <a:tailEnd type="none" w="med" len="med"/>
                    </a:lnR>
                    <a:lnT w="12700" cap="flat" cmpd="sng" algn="ctr">
                      <a:solidFill>
                        <a:srgbClr val="BFC9D9"/>
                      </a:solidFill>
                      <a:prstDash val="solid"/>
                      <a:round/>
                      <a:headEnd type="none" w="med" len="med"/>
                      <a:tailEnd type="none" w="med" len="med"/>
                    </a:lnT>
                    <a:lnB w="12700" cap="flat" cmpd="sng" algn="ctr">
                      <a:solidFill>
                        <a:srgbClr val="BFC9D9"/>
                      </a:solidFill>
                      <a:prstDash val="solid"/>
                      <a:round/>
                      <a:headEnd type="none" w="med" len="med"/>
                      <a:tailEnd type="none" w="med" len="med"/>
                    </a:lnB>
                    <a:solidFill>
                      <a:srgbClr val="F2F4F7"/>
                    </a:solidFill>
                  </a:tcPr>
                </a:tc>
                <a:tc>
                  <a:txBody>
                    <a:bodyPr/>
                    <a:lstStyle/>
                    <a:p>
                      <a:pPr algn="l" indent="0" marL="0">
                        <a:buNone/>
                      </a:pPr>
                      <a:r>
                        <a:rPr lang="en-US" sz="1700" b="1" dirty="0">
                          <a:solidFill>
                            <a:srgbClr val="1A1A1A"/>
                          </a:solidFill>
                          <a:latin typeface="Arial" pitchFamily="34" charset="0"/>
                          <a:ea typeface="Arial" pitchFamily="34" charset="-122"/>
                          <a:cs typeface="Arial" pitchFamily="34" charset="-120"/>
                        </a:rPr>
                        <a:t>61.2 %</a:t>
                      </a:r>
                      <a:endParaRPr lang="en-US" sz="1700" dirty="0">
                        <a:latin typeface="Arial" charset="0"/>
                        <a:ea typeface="Arial" charset="0"/>
                        <a:cs typeface="Arial" charset="0"/>
                      </a:endParaRPr>
                    </a:p>
                  </a:txBody>
                  <a:tcPr marL="73152" marR="73152" marT="73152" marB="73152" anchor="ctr">
                    <a:lnL w="12700" cap="flat" cmpd="sng" algn="ctr">
                      <a:solidFill>
                        <a:srgbClr val="BFC9D9"/>
                      </a:solidFill>
                      <a:prstDash val="solid"/>
                      <a:round/>
                      <a:headEnd type="none" w="med" len="med"/>
                      <a:tailEnd type="none" w="med" len="med"/>
                    </a:lnL>
                    <a:lnR w="12700" cap="flat" cmpd="sng" algn="ctr">
                      <a:solidFill>
                        <a:srgbClr val="BFC9D9"/>
                      </a:solidFill>
                      <a:prstDash val="solid"/>
                      <a:round/>
                      <a:headEnd type="none" w="med" len="med"/>
                      <a:tailEnd type="none" w="med" len="med"/>
                    </a:lnR>
                    <a:lnT w="12700" cap="flat" cmpd="sng" algn="ctr">
                      <a:solidFill>
                        <a:srgbClr val="BFC9D9"/>
                      </a:solidFill>
                      <a:prstDash val="solid"/>
                      <a:round/>
                      <a:headEnd type="none" w="med" len="med"/>
                      <a:tailEnd type="none" w="med" len="med"/>
                    </a:lnT>
                    <a:lnB w="12700" cap="flat" cmpd="sng" algn="ctr">
                      <a:solidFill>
                        <a:srgbClr val="BFC9D9"/>
                      </a:solidFill>
                      <a:prstDash val="solid"/>
                      <a:round/>
                      <a:headEnd type="none" w="med" len="med"/>
                      <a:tailEnd type="none" w="med" len="med"/>
                    </a:lnB>
                    <a:solidFill>
                      <a:srgbClr val="F2F4F7"/>
                    </a:solidFill>
                  </a:tcPr>
                </a:tc>
              </a:tr>
              <a:tr h="457200">
                <a:tc>
                  <a:txBody>
                    <a:bodyPr/>
                    <a:lstStyle/>
                    <a:p>
                      <a:pPr algn="l" indent="0" marL="0">
                        <a:buNone/>
                      </a:pPr>
                      <a:r>
                        <a:rPr lang="en-US" sz="1700" dirty="0">
                          <a:solidFill>
                            <a:srgbClr val="1A1A1A"/>
                          </a:solidFill>
                          <a:latin typeface="Arial" pitchFamily="34" charset="0"/>
                          <a:ea typeface="Arial" pitchFamily="34" charset="-122"/>
                          <a:cs typeface="Arial" pitchFamily="34" charset="-120"/>
                        </a:rPr>
                        <a:t>TargetScan transcript is DIFFERENT</a:t>
                      </a:r>
                      <a:endParaRPr lang="en-US" sz="1700" dirty="0">
                        <a:latin typeface="Arial" charset="0"/>
                        <a:ea typeface="Arial" charset="0"/>
                        <a:cs typeface="Arial" charset="0"/>
                      </a:endParaRPr>
                    </a:p>
                  </a:txBody>
                  <a:tcPr marL="73152" marR="73152" marT="73152" marB="73152" anchor="ctr">
                    <a:lnL w="12700" cap="flat" cmpd="sng" algn="ctr">
                      <a:solidFill>
                        <a:srgbClr val="BFC9D9"/>
                      </a:solidFill>
                      <a:prstDash val="solid"/>
                      <a:round/>
                      <a:headEnd type="none" w="med" len="med"/>
                      <a:tailEnd type="none" w="med" len="med"/>
                    </a:lnL>
                    <a:lnR w="12700" cap="flat" cmpd="sng" algn="ctr">
                      <a:solidFill>
                        <a:srgbClr val="BFC9D9"/>
                      </a:solidFill>
                      <a:prstDash val="solid"/>
                      <a:round/>
                      <a:headEnd type="none" w="med" len="med"/>
                      <a:tailEnd type="none" w="med" len="med"/>
                    </a:lnR>
                    <a:lnT w="12700" cap="flat" cmpd="sng" algn="ctr">
                      <a:solidFill>
                        <a:srgbClr val="BFC9D9"/>
                      </a:solidFill>
                      <a:prstDash val="solid"/>
                      <a:round/>
                      <a:headEnd type="none" w="med" len="med"/>
                      <a:tailEnd type="none" w="med" len="med"/>
                    </a:lnT>
                    <a:lnB w="12700" cap="flat" cmpd="sng" algn="ctr">
                      <a:solidFill>
                        <a:srgbClr val="BFC9D9"/>
                      </a:solidFill>
                      <a:prstDash val="solid"/>
                      <a:round/>
                      <a:headEnd type="none" w="med" len="med"/>
                      <a:tailEnd type="none" w="med" len="med"/>
                    </a:lnB>
                    <a:solidFill>
                      <a:srgbClr val="FFFFFF"/>
                    </a:solidFill>
                  </a:tcPr>
                </a:tc>
                <a:tc>
                  <a:txBody>
                    <a:bodyPr/>
                    <a:lstStyle/>
                    <a:p>
                      <a:pPr algn="l" indent="0" marL="0">
                        <a:buNone/>
                      </a:pPr>
                      <a:r>
                        <a:rPr lang="en-US" sz="1700" b="1" dirty="0">
                          <a:solidFill>
                            <a:srgbClr val="1A1A1A"/>
                          </a:solidFill>
                          <a:latin typeface="Arial" pitchFamily="34" charset="0"/>
                          <a:ea typeface="Arial" pitchFamily="34" charset="-122"/>
                          <a:cs typeface="Arial" pitchFamily="34" charset="-120"/>
                        </a:rPr>
                        <a:t>7,189</a:t>
                      </a:r>
                      <a:endParaRPr lang="en-US" sz="1700" dirty="0">
                        <a:latin typeface="Arial" charset="0"/>
                        <a:ea typeface="Arial" charset="0"/>
                        <a:cs typeface="Arial" charset="0"/>
                      </a:endParaRPr>
                    </a:p>
                  </a:txBody>
                  <a:tcPr marL="73152" marR="73152" marT="73152" marB="73152" anchor="ctr">
                    <a:lnL w="12700" cap="flat" cmpd="sng" algn="ctr">
                      <a:solidFill>
                        <a:srgbClr val="BFC9D9"/>
                      </a:solidFill>
                      <a:prstDash val="solid"/>
                      <a:round/>
                      <a:headEnd type="none" w="med" len="med"/>
                      <a:tailEnd type="none" w="med" len="med"/>
                    </a:lnL>
                    <a:lnR w="12700" cap="flat" cmpd="sng" algn="ctr">
                      <a:solidFill>
                        <a:srgbClr val="BFC9D9"/>
                      </a:solidFill>
                      <a:prstDash val="solid"/>
                      <a:round/>
                      <a:headEnd type="none" w="med" len="med"/>
                      <a:tailEnd type="none" w="med" len="med"/>
                    </a:lnR>
                    <a:lnT w="12700" cap="flat" cmpd="sng" algn="ctr">
                      <a:solidFill>
                        <a:srgbClr val="BFC9D9"/>
                      </a:solidFill>
                      <a:prstDash val="solid"/>
                      <a:round/>
                      <a:headEnd type="none" w="med" len="med"/>
                      <a:tailEnd type="none" w="med" len="med"/>
                    </a:lnT>
                    <a:lnB w="12700" cap="flat" cmpd="sng" algn="ctr">
                      <a:solidFill>
                        <a:srgbClr val="BFC9D9"/>
                      </a:solidFill>
                      <a:prstDash val="solid"/>
                      <a:round/>
                      <a:headEnd type="none" w="med" len="med"/>
                      <a:tailEnd type="none" w="med" len="med"/>
                    </a:lnB>
                    <a:solidFill>
                      <a:srgbClr val="FFFFFF"/>
                    </a:solidFill>
                  </a:tcPr>
                </a:tc>
                <a:tc>
                  <a:txBody>
                    <a:bodyPr/>
                    <a:lstStyle/>
                    <a:p>
                      <a:pPr algn="l" indent="0" marL="0">
                        <a:buNone/>
                      </a:pPr>
                      <a:r>
                        <a:rPr lang="en-US" sz="1700" b="1" dirty="0">
                          <a:solidFill>
                            <a:srgbClr val="1A1A1A"/>
                          </a:solidFill>
                          <a:latin typeface="Arial" pitchFamily="34" charset="0"/>
                          <a:ea typeface="Arial" pitchFamily="34" charset="-122"/>
                          <a:cs typeface="Arial" pitchFamily="34" charset="-120"/>
                        </a:rPr>
                        <a:t>38.7 %</a:t>
                      </a:r>
                      <a:endParaRPr lang="en-US" sz="1700" dirty="0">
                        <a:latin typeface="Arial" charset="0"/>
                        <a:ea typeface="Arial" charset="0"/>
                        <a:cs typeface="Arial" charset="0"/>
                      </a:endParaRPr>
                    </a:p>
                  </a:txBody>
                  <a:tcPr marL="73152" marR="73152" marT="73152" marB="73152" anchor="ctr">
                    <a:lnL w="12700" cap="flat" cmpd="sng" algn="ctr">
                      <a:solidFill>
                        <a:srgbClr val="BFC9D9"/>
                      </a:solidFill>
                      <a:prstDash val="solid"/>
                      <a:round/>
                      <a:headEnd type="none" w="med" len="med"/>
                      <a:tailEnd type="none" w="med" len="med"/>
                    </a:lnL>
                    <a:lnR w="12700" cap="flat" cmpd="sng" algn="ctr">
                      <a:solidFill>
                        <a:srgbClr val="BFC9D9"/>
                      </a:solidFill>
                      <a:prstDash val="solid"/>
                      <a:round/>
                      <a:headEnd type="none" w="med" len="med"/>
                      <a:tailEnd type="none" w="med" len="med"/>
                    </a:lnR>
                    <a:lnT w="12700" cap="flat" cmpd="sng" algn="ctr">
                      <a:solidFill>
                        <a:srgbClr val="BFC9D9"/>
                      </a:solidFill>
                      <a:prstDash val="solid"/>
                      <a:round/>
                      <a:headEnd type="none" w="med" len="med"/>
                      <a:tailEnd type="none" w="med" len="med"/>
                    </a:lnT>
                    <a:lnB w="12700" cap="flat" cmpd="sng" algn="ctr">
                      <a:solidFill>
                        <a:srgbClr val="BFC9D9"/>
                      </a:solidFill>
                      <a:prstDash val="solid"/>
                      <a:round/>
                      <a:headEnd type="none" w="med" len="med"/>
                      <a:tailEnd type="none" w="med" len="med"/>
                    </a:lnB>
                    <a:solidFill>
                      <a:srgbClr val="FFFFFF"/>
                    </a:solidFill>
                  </a:tcPr>
                </a:tc>
              </a:tr>
              <a:tr h="457200">
                <a:tc>
                  <a:txBody>
                    <a:bodyPr/>
                    <a:lstStyle/>
                    <a:p>
                      <a:pPr algn="l" indent="0" marL="0">
                        <a:buNone/>
                      </a:pPr>
                      <a:r>
                        <a:rPr lang="en-US" sz="1700" dirty="0">
                          <a:solidFill>
                            <a:srgbClr val="1A1A1A"/>
                          </a:solidFill>
                          <a:latin typeface="Arial" pitchFamily="34" charset="0"/>
                          <a:ea typeface="Arial" pitchFamily="34" charset="-122"/>
                          <a:cs typeface="Arial" pitchFamily="34" charset="-120"/>
                        </a:rPr>
                        <a:t>No representative flagged</a:t>
                      </a:r>
                      <a:endParaRPr lang="en-US" sz="1700" dirty="0">
                        <a:latin typeface="Arial" charset="0"/>
                        <a:ea typeface="Arial" charset="0"/>
                        <a:cs typeface="Arial" charset="0"/>
                      </a:endParaRPr>
                    </a:p>
                  </a:txBody>
                  <a:tcPr marL="73152" marR="73152" marT="73152" marB="73152" anchor="ctr">
                    <a:lnL w="12700" cap="flat" cmpd="sng" algn="ctr">
                      <a:solidFill>
                        <a:srgbClr val="BFC9D9"/>
                      </a:solidFill>
                      <a:prstDash val="solid"/>
                      <a:round/>
                      <a:headEnd type="none" w="med" len="med"/>
                      <a:tailEnd type="none" w="med" len="med"/>
                    </a:lnL>
                    <a:lnR w="12700" cap="flat" cmpd="sng" algn="ctr">
                      <a:solidFill>
                        <a:srgbClr val="BFC9D9"/>
                      </a:solidFill>
                      <a:prstDash val="solid"/>
                      <a:round/>
                      <a:headEnd type="none" w="med" len="med"/>
                      <a:tailEnd type="none" w="med" len="med"/>
                    </a:lnR>
                    <a:lnT w="12700" cap="flat" cmpd="sng" algn="ctr">
                      <a:solidFill>
                        <a:srgbClr val="BFC9D9"/>
                      </a:solidFill>
                      <a:prstDash val="solid"/>
                      <a:round/>
                      <a:headEnd type="none" w="med" len="med"/>
                      <a:tailEnd type="none" w="med" len="med"/>
                    </a:lnT>
                    <a:lnB w="12700" cap="flat" cmpd="sng" algn="ctr">
                      <a:solidFill>
                        <a:srgbClr val="BFC9D9"/>
                      </a:solidFill>
                      <a:prstDash val="solid"/>
                      <a:round/>
                      <a:headEnd type="none" w="med" len="med"/>
                      <a:tailEnd type="none" w="med" len="med"/>
                    </a:lnB>
                    <a:solidFill>
                      <a:srgbClr val="F2F4F7"/>
                    </a:solidFill>
                  </a:tcPr>
                </a:tc>
                <a:tc>
                  <a:txBody>
                    <a:bodyPr/>
                    <a:lstStyle/>
                    <a:p>
                      <a:pPr algn="l" indent="0" marL="0">
                        <a:buNone/>
                      </a:pPr>
                      <a:r>
                        <a:rPr lang="en-US" sz="1700" b="1" dirty="0">
                          <a:solidFill>
                            <a:srgbClr val="1A1A1A"/>
                          </a:solidFill>
                          <a:latin typeface="Arial" pitchFamily="34" charset="0"/>
                          <a:ea typeface="Arial" pitchFamily="34" charset="-122"/>
                          <a:cs typeface="Arial" pitchFamily="34" charset="-120"/>
                        </a:rPr>
                        <a:t>32</a:t>
                      </a:r>
                      <a:endParaRPr lang="en-US" sz="1700" dirty="0">
                        <a:latin typeface="Arial" charset="0"/>
                        <a:ea typeface="Arial" charset="0"/>
                        <a:cs typeface="Arial" charset="0"/>
                      </a:endParaRPr>
                    </a:p>
                  </a:txBody>
                  <a:tcPr marL="73152" marR="73152" marT="73152" marB="73152" anchor="ctr">
                    <a:lnL w="12700" cap="flat" cmpd="sng" algn="ctr">
                      <a:solidFill>
                        <a:srgbClr val="BFC9D9"/>
                      </a:solidFill>
                      <a:prstDash val="solid"/>
                      <a:round/>
                      <a:headEnd type="none" w="med" len="med"/>
                      <a:tailEnd type="none" w="med" len="med"/>
                    </a:lnL>
                    <a:lnR w="12700" cap="flat" cmpd="sng" algn="ctr">
                      <a:solidFill>
                        <a:srgbClr val="BFC9D9"/>
                      </a:solidFill>
                      <a:prstDash val="solid"/>
                      <a:round/>
                      <a:headEnd type="none" w="med" len="med"/>
                      <a:tailEnd type="none" w="med" len="med"/>
                    </a:lnR>
                    <a:lnT w="12700" cap="flat" cmpd="sng" algn="ctr">
                      <a:solidFill>
                        <a:srgbClr val="BFC9D9"/>
                      </a:solidFill>
                      <a:prstDash val="solid"/>
                      <a:round/>
                      <a:headEnd type="none" w="med" len="med"/>
                      <a:tailEnd type="none" w="med" len="med"/>
                    </a:lnT>
                    <a:lnB w="12700" cap="flat" cmpd="sng" algn="ctr">
                      <a:solidFill>
                        <a:srgbClr val="BFC9D9"/>
                      </a:solidFill>
                      <a:prstDash val="solid"/>
                      <a:round/>
                      <a:headEnd type="none" w="med" len="med"/>
                      <a:tailEnd type="none" w="med" len="med"/>
                    </a:lnB>
                    <a:solidFill>
                      <a:srgbClr val="F2F4F7"/>
                    </a:solidFill>
                  </a:tcPr>
                </a:tc>
                <a:tc>
                  <a:txBody>
                    <a:bodyPr/>
                    <a:lstStyle/>
                    <a:p>
                      <a:pPr algn="l" indent="0" marL="0">
                        <a:buNone/>
                      </a:pPr>
                      <a:r>
                        <a:rPr lang="en-US" sz="1700" b="1" dirty="0">
                          <a:solidFill>
                            <a:srgbClr val="1A1A1A"/>
                          </a:solidFill>
                          <a:latin typeface="Arial" pitchFamily="34" charset="0"/>
                          <a:ea typeface="Arial" pitchFamily="34" charset="-122"/>
                          <a:cs typeface="Arial" pitchFamily="34" charset="-120"/>
                        </a:rPr>
                        <a:t>0.1 %</a:t>
                      </a:r>
                      <a:endParaRPr lang="en-US" sz="1700" dirty="0">
                        <a:latin typeface="Arial" charset="0"/>
                        <a:ea typeface="Arial" charset="0"/>
                        <a:cs typeface="Arial" charset="0"/>
                      </a:endParaRPr>
                    </a:p>
                  </a:txBody>
                  <a:tcPr marL="73152" marR="73152" marT="73152" marB="73152" anchor="ctr">
                    <a:lnL w="12700" cap="flat" cmpd="sng" algn="ctr">
                      <a:solidFill>
                        <a:srgbClr val="BFC9D9"/>
                      </a:solidFill>
                      <a:prstDash val="solid"/>
                      <a:round/>
                      <a:headEnd type="none" w="med" len="med"/>
                      <a:tailEnd type="none" w="med" len="med"/>
                    </a:lnL>
                    <a:lnR w="12700" cap="flat" cmpd="sng" algn="ctr">
                      <a:solidFill>
                        <a:srgbClr val="BFC9D9"/>
                      </a:solidFill>
                      <a:prstDash val="solid"/>
                      <a:round/>
                      <a:headEnd type="none" w="med" len="med"/>
                      <a:tailEnd type="none" w="med" len="med"/>
                    </a:lnR>
                    <a:lnT w="12700" cap="flat" cmpd="sng" algn="ctr">
                      <a:solidFill>
                        <a:srgbClr val="BFC9D9"/>
                      </a:solidFill>
                      <a:prstDash val="solid"/>
                      <a:round/>
                      <a:headEnd type="none" w="med" len="med"/>
                      <a:tailEnd type="none" w="med" len="med"/>
                    </a:lnT>
                    <a:lnB w="12700" cap="flat" cmpd="sng" algn="ctr">
                      <a:solidFill>
                        <a:srgbClr val="BFC9D9"/>
                      </a:solidFill>
                      <a:prstDash val="solid"/>
                      <a:round/>
                      <a:headEnd type="none" w="med" len="med"/>
                      <a:tailEnd type="none" w="med" len="med"/>
                    </a:lnB>
                    <a:solidFill>
                      <a:srgbClr val="F2F4F7"/>
                    </a:solidFill>
                  </a:tcPr>
                </a:tc>
              </a:tr>
            </a:tbl>
          </a:graphicData>
        </a:graphic>
      </p:graphicFrame>
      <p:sp>
        <p:nvSpPr>
          <p:cNvPr id="7" name="Shape 4"/>
          <p:cNvSpPr/>
          <p:nvPr/>
        </p:nvSpPr>
        <p:spPr>
          <a:xfrm>
            <a:off x="548640" y="4709160"/>
            <a:ext cx="11064240" cy="1600200"/>
          </a:xfrm>
          <a:prstGeom prst="roundRect">
            <a:avLst>
              <a:gd name="adj" fmla="val 4571"/>
            </a:avLst>
          </a:prstGeom>
          <a:solidFill>
            <a:srgbClr val="FBEDEC"/>
          </a:solidFill>
          <a:ln w="15875">
            <a:solidFill>
              <a:srgbClr val="D9A6A2"/>
            </a:solidFill>
            <a:prstDash val="solid"/>
          </a:ln>
        </p:spPr>
      </p:sp>
      <p:sp>
        <p:nvSpPr>
          <p:cNvPr id="8" name="Text 5"/>
          <p:cNvSpPr txBox="1"/>
          <p:nvPr/>
        </p:nvSpPr>
        <p:spPr>
          <a:xfrm>
            <a:off x="868680" y="4828032"/>
            <a:ext cx="2743200" cy="548640"/>
          </a:xfrm>
          <a:prstGeom prst="rect">
            <a:avLst/>
          </a:prstGeom>
          <a:noFill/>
          <a:ln/>
        </p:spPr>
        <p:txBody>
          <a:bodyPr wrap="square" lIns="0" tIns="0" rIns="0" bIns="0" rtlCol="0" anchor="t"/>
          <a:lstStyle/>
          <a:p>
            <a:pPr algn="l" indent="0" marL="0">
              <a:buNone/>
            </a:pPr>
            <a:r>
              <a:rPr lang="en-US" sz="5400" b="1" dirty="0">
                <a:solidFill>
                  <a:srgbClr val="B22222"/>
                </a:solidFill>
                <a:latin typeface="Arial" pitchFamily="34" charset="0"/>
                <a:ea typeface="Arial" pitchFamily="34" charset="-122"/>
                <a:cs typeface="Arial" pitchFamily="34" charset="-120"/>
              </a:rPr>
              <a:t>38.7 %</a:t>
            </a:r>
            <a:endParaRPr lang="en-US" sz="5400" dirty="0"/>
          </a:p>
        </p:txBody>
      </p:sp>
      <p:sp>
        <p:nvSpPr>
          <p:cNvPr id="9" name="Text 6"/>
          <p:cNvSpPr txBox="1"/>
          <p:nvPr/>
        </p:nvSpPr>
        <p:spPr>
          <a:xfrm>
            <a:off x="3749040" y="4937760"/>
            <a:ext cx="7589520" cy="822960"/>
          </a:xfrm>
          <a:prstGeom prst="rect">
            <a:avLst/>
          </a:prstGeom>
          <a:noFill/>
          <a:ln/>
        </p:spPr>
        <p:txBody>
          <a:bodyPr wrap="square" lIns="0" tIns="0" rIns="0" bIns="0" rtlCol="0" anchor="t"/>
          <a:lstStyle/>
          <a:p>
            <a:pPr algn="l" indent="0" marL="0">
              <a:buNone/>
            </a:pPr>
            <a:r>
              <a:rPr lang="en-US" sz="1900" dirty="0">
                <a:solidFill>
                  <a:srgbClr val="1A1A1A"/>
                </a:solidFill>
                <a:latin typeface="Arial" pitchFamily="34" charset="0"/>
                <a:ea typeface="Arial" pitchFamily="34" charset="-122"/>
                <a:cs typeface="Arial" pitchFamily="34" charset="-120"/>
              </a:rPr>
              <a:t>Almost 4 genes in every 10 are scored by TargetScan on a different transcript than the one our tool scans.</a:t>
            </a:r>
            <a:endParaRPr lang="en-US" sz="1900" dirty="0"/>
          </a:p>
        </p:txBody>
      </p:sp>
      <p:sp>
        <p:nvSpPr>
          <p:cNvPr id="10" name="Text 7"/>
          <p:cNvSpPr txBox="1"/>
          <p:nvPr/>
        </p:nvSpPr>
        <p:spPr>
          <a:xfrm>
            <a:off x="3749040" y="5760720"/>
            <a:ext cx="7589520" cy="548640"/>
          </a:xfrm>
          <a:prstGeom prst="rect">
            <a:avLst/>
          </a:prstGeom>
          <a:noFill/>
          <a:ln/>
        </p:spPr>
        <p:txBody>
          <a:bodyPr wrap="square" lIns="0" tIns="0" rIns="0" bIns="0" rtlCol="0" anchor="t"/>
          <a:lstStyle/>
          <a:p>
            <a:pPr algn="l" indent="0" marL="0">
              <a:buNone/>
            </a:pPr>
            <a:r>
              <a:rPr lang="en-US" sz="1800" b="1" dirty="0">
                <a:solidFill>
                  <a:srgbClr val="B22222"/>
                </a:solidFill>
                <a:latin typeface="Arial" pitchFamily="34" charset="0"/>
                <a:ea typeface="Arial" pitchFamily="34" charset="-122"/>
                <a:cs typeface="Arial" pitchFamily="34" charset="-120"/>
              </a:rPr>
              <a:t>This is not a rare edge case. It is a large fraction of the genome.</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685800"/>
          </a:xfrm>
          <a:prstGeom prst="rect">
            <a:avLst/>
          </a:prstGeom>
          <a:noFill/>
          <a:ln/>
        </p:spPr>
        <p:txBody>
          <a:bodyPr wrap="square" lIns="0" tIns="0" rIns="0" bIns="0" rtlCol="0" anchor="ctr"/>
          <a:lstStyle/>
          <a:p>
            <a:pPr algn="l" indent="0" marL="0">
              <a:buNone/>
            </a:pPr>
            <a:r>
              <a:rPr lang="en-US" sz="3400" b="1" dirty="0">
                <a:solidFill>
                  <a:srgbClr val="1F3864"/>
                </a:solidFill>
                <a:latin typeface="Arial" pitchFamily="34" charset="0"/>
                <a:ea typeface="Arial" pitchFamily="34" charset="-122"/>
                <a:cs typeface="Arial" pitchFamily="34" charset="-120"/>
              </a:rPr>
              <a:t>Why Do They Disagree? Different Criteria</a:t>
            </a:r>
            <a:endParaRPr lang="en-US" sz="3400" dirty="0"/>
          </a:p>
        </p:txBody>
      </p:sp>
      <p:sp>
        <p:nvSpPr>
          <p:cNvPr id="3" name="Text 1"/>
          <p:cNvSpPr txBox="1"/>
          <p:nvPr/>
        </p:nvSpPr>
        <p:spPr>
          <a:xfrm>
            <a:off x="548640" y="1097280"/>
            <a:ext cx="11064240" cy="548640"/>
          </a:xfrm>
          <a:prstGeom prst="rect">
            <a:avLst/>
          </a:prstGeom>
          <a:noFill/>
          <a:ln/>
        </p:spPr>
        <p:txBody>
          <a:bodyPr wrap="square" lIns="0" tIns="0" rIns="0" bIns="0" rtlCol="0" anchor="t"/>
          <a:lstStyle/>
          <a:p>
            <a:pPr algn="l" indent="0" marL="0">
              <a:buNone/>
            </a:pPr>
            <a:r>
              <a:rPr lang="en-US" sz="1900" dirty="0">
                <a:solidFill>
                  <a:srgbClr val="595959"/>
                </a:solidFill>
                <a:latin typeface="Arial" pitchFamily="34" charset="0"/>
                <a:ea typeface="Arial" pitchFamily="34" charset="-122"/>
                <a:cs typeface="Arial" pitchFamily="34" charset="-120"/>
              </a:rPr>
              <a:t>Both choices are legitimate. They are simply answering different questions.</a:t>
            </a:r>
            <a:endParaRPr lang="en-US" sz="1900" dirty="0"/>
          </a:p>
        </p:txBody>
      </p:sp>
      <p:sp>
        <p:nvSpPr>
          <p:cNvPr id="4" name="Shape 2"/>
          <p:cNvSpPr/>
          <p:nvPr/>
        </p:nvSpPr>
        <p:spPr>
          <a:xfrm>
            <a:off x="548640" y="1691640"/>
            <a:ext cx="5257800" cy="2148840"/>
          </a:xfrm>
          <a:prstGeom prst="roundRect">
            <a:avLst>
              <a:gd name="adj" fmla="val 3404"/>
            </a:avLst>
          </a:prstGeom>
          <a:solidFill>
            <a:srgbClr val="EAF0F8"/>
          </a:solidFill>
          <a:ln w="15875">
            <a:solidFill>
              <a:srgbClr val="9DB4D4"/>
            </a:solidFill>
            <a:prstDash val="solid"/>
          </a:ln>
        </p:spPr>
      </p:sp>
      <p:sp>
        <p:nvSpPr>
          <p:cNvPr id="5" name="Text 3"/>
          <p:cNvSpPr txBox="1"/>
          <p:nvPr/>
        </p:nvSpPr>
        <p:spPr>
          <a:xfrm>
            <a:off x="822960" y="1874520"/>
            <a:ext cx="4754880" cy="548640"/>
          </a:xfrm>
          <a:prstGeom prst="rect">
            <a:avLst/>
          </a:prstGeom>
          <a:noFill/>
          <a:ln/>
        </p:spPr>
        <p:txBody>
          <a:bodyPr wrap="square" lIns="0" tIns="0" rIns="0" bIns="0" rtlCol="0" anchor="t"/>
          <a:lstStyle/>
          <a:p>
            <a:pPr algn="l" indent="0" marL="0">
              <a:buNone/>
            </a:pPr>
            <a:r>
              <a:rPr lang="en-US" sz="2200" b="1" dirty="0">
                <a:solidFill>
                  <a:srgbClr val="1F3864"/>
                </a:solidFill>
                <a:latin typeface="Arial" pitchFamily="34" charset="0"/>
                <a:ea typeface="Arial" pitchFamily="34" charset="-122"/>
                <a:cs typeface="Arial" pitchFamily="34" charset="-120"/>
              </a:rPr>
              <a:t>MANE</a:t>
            </a:r>
            <a:endParaRPr lang="en-US" sz="2200" dirty="0"/>
          </a:p>
        </p:txBody>
      </p:sp>
      <p:sp>
        <p:nvSpPr>
          <p:cNvPr id="6" name="Text 4"/>
          <p:cNvSpPr txBox="1"/>
          <p:nvPr/>
        </p:nvSpPr>
        <p:spPr>
          <a:xfrm>
            <a:off x="822960" y="2286000"/>
            <a:ext cx="4754880" cy="548640"/>
          </a:xfrm>
          <a:prstGeom prst="rect">
            <a:avLst/>
          </a:prstGeom>
          <a:noFill/>
          <a:ln/>
        </p:spPr>
        <p:txBody>
          <a:bodyPr wrap="square" lIns="0" tIns="0" rIns="0" bIns="0" rtlCol="0" anchor="t"/>
          <a:lstStyle/>
          <a:p>
            <a:pPr algn="l" indent="0" marL="0">
              <a:buNone/>
            </a:pPr>
            <a:r>
              <a:rPr lang="en-US" sz="1700" dirty="0">
                <a:solidFill>
                  <a:srgbClr val="595959"/>
                </a:solidFill>
                <a:latin typeface="Arial" pitchFamily="34" charset="0"/>
                <a:ea typeface="Arial" pitchFamily="34" charset="-122"/>
                <a:cs typeface="Arial" pitchFamily="34" charset="-120"/>
              </a:rPr>
              <a:t>Chooses by</a:t>
            </a:r>
            <a:endParaRPr lang="en-US" sz="1700" dirty="0"/>
          </a:p>
        </p:txBody>
      </p:sp>
      <p:sp>
        <p:nvSpPr>
          <p:cNvPr id="7" name="Text 5"/>
          <p:cNvSpPr txBox="1"/>
          <p:nvPr/>
        </p:nvSpPr>
        <p:spPr>
          <a:xfrm>
            <a:off x="822960" y="2578608"/>
            <a:ext cx="4754880" cy="548640"/>
          </a:xfrm>
          <a:prstGeom prst="rect">
            <a:avLst/>
          </a:prstGeom>
          <a:noFill/>
          <a:ln/>
        </p:spPr>
        <p:txBody>
          <a:bodyPr wrap="square" lIns="0" tIns="0" rIns="0" bIns="0" rtlCol="0" anchor="t"/>
          <a:lstStyle/>
          <a:p>
            <a:pPr algn="l" indent="0" marL="0">
              <a:buNone/>
            </a:pPr>
            <a:r>
              <a:rPr lang="en-US" sz="1900" b="1" dirty="0">
                <a:solidFill>
                  <a:srgbClr val="1A1A1A"/>
                </a:solidFill>
                <a:latin typeface="Arial" pitchFamily="34" charset="0"/>
                <a:ea typeface="Arial" pitchFamily="34" charset="-122"/>
                <a:cs typeface="Arial" pitchFamily="34" charset="-120"/>
              </a:rPr>
              <a:t>RefSeq – Ensembl agreement</a:t>
            </a:r>
            <a:endParaRPr lang="en-US" sz="1900" dirty="0"/>
          </a:p>
        </p:txBody>
      </p:sp>
      <p:sp>
        <p:nvSpPr>
          <p:cNvPr id="8" name="Text 6"/>
          <p:cNvSpPr txBox="1"/>
          <p:nvPr/>
        </p:nvSpPr>
        <p:spPr>
          <a:xfrm>
            <a:off x="822960" y="2971800"/>
            <a:ext cx="4754880" cy="731520"/>
          </a:xfrm>
          <a:prstGeom prst="rect">
            <a:avLst/>
          </a:prstGeom>
          <a:noFill/>
          <a:ln/>
        </p:spPr>
        <p:txBody>
          <a:bodyPr wrap="square" lIns="0" tIns="0" rIns="0" bIns="0" rtlCol="0" anchor="t"/>
          <a:lstStyle/>
          <a:p>
            <a:pPr algn="l" indent="0" marL="0">
              <a:buNone/>
            </a:pPr>
            <a:r>
              <a:rPr lang="en-US" sz="1700" dirty="0">
                <a:solidFill>
                  <a:srgbClr val="1A1A1A"/>
                </a:solidFill>
                <a:latin typeface="Arial" pitchFamily="34" charset="0"/>
                <a:ea typeface="Arial" pitchFamily="34" charset="-122"/>
                <a:cs typeface="Arial" pitchFamily="34" charset="-120"/>
              </a:rPr>
              <a:t>"Which transcript gives a standard, high-confidence reference?"</a:t>
            </a:r>
            <a:endParaRPr lang="en-US" sz="1700" dirty="0"/>
          </a:p>
        </p:txBody>
      </p:sp>
      <p:sp>
        <p:nvSpPr>
          <p:cNvPr id="9" name="Shape 7"/>
          <p:cNvSpPr/>
          <p:nvPr/>
        </p:nvSpPr>
        <p:spPr>
          <a:xfrm>
            <a:off x="6355080" y="1691640"/>
            <a:ext cx="5257800" cy="2148840"/>
          </a:xfrm>
          <a:prstGeom prst="roundRect">
            <a:avLst>
              <a:gd name="adj" fmla="val 3404"/>
            </a:avLst>
          </a:prstGeom>
          <a:solidFill>
            <a:srgbClr val="F7F0E6"/>
          </a:solidFill>
          <a:ln w="15875">
            <a:solidFill>
              <a:srgbClr val="C9AE86"/>
            </a:solidFill>
            <a:prstDash val="solid"/>
          </a:ln>
        </p:spPr>
      </p:sp>
      <p:sp>
        <p:nvSpPr>
          <p:cNvPr id="10" name="Text 8"/>
          <p:cNvSpPr txBox="1"/>
          <p:nvPr/>
        </p:nvSpPr>
        <p:spPr>
          <a:xfrm>
            <a:off x="6629400" y="1874520"/>
            <a:ext cx="4754880" cy="548640"/>
          </a:xfrm>
          <a:prstGeom prst="rect">
            <a:avLst/>
          </a:prstGeom>
          <a:noFill/>
          <a:ln/>
        </p:spPr>
        <p:txBody>
          <a:bodyPr wrap="square" lIns="0" tIns="0" rIns="0" bIns="0" rtlCol="0" anchor="t"/>
          <a:lstStyle/>
          <a:p>
            <a:pPr algn="l" indent="0" marL="0">
              <a:buNone/>
            </a:pPr>
            <a:r>
              <a:rPr lang="en-US" sz="2200" b="1" dirty="0">
                <a:solidFill>
                  <a:srgbClr val="8A5A1E"/>
                </a:solidFill>
                <a:latin typeface="Arial" pitchFamily="34" charset="0"/>
                <a:ea typeface="Arial" pitchFamily="34" charset="-122"/>
                <a:cs typeface="Arial" pitchFamily="34" charset="-120"/>
              </a:rPr>
              <a:t>TargetScan</a:t>
            </a:r>
            <a:endParaRPr lang="en-US" sz="2200" dirty="0"/>
          </a:p>
        </p:txBody>
      </p:sp>
      <p:sp>
        <p:nvSpPr>
          <p:cNvPr id="11" name="Text 9"/>
          <p:cNvSpPr txBox="1"/>
          <p:nvPr/>
        </p:nvSpPr>
        <p:spPr>
          <a:xfrm>
            <a:off x="6629400" y="2286000"/>
            <a:ext cx="4754880" cy="548640"/>
          </a:xfrm>
          <a:prstGeom prst="rect">
            <a:avLst/>
          </a:prstGeom>
          <a:noFill/>
          <a:ln/>
        </p:spPr>
        <p:txBody>
          <a:bodyPr wrap="square" lIns="0" tIns="0" rIns="0" bIns="0" rtlCol="0" anchor="t"/>
          <a:lstStyle/>
          <a:p>
            <a:pPr algn="l" indent="0" marL="0">
              <a:buNone/>
            </a:pPr>
            <a:r>
              <a:rPr lang="en-US" sz="1700" dirty="0">
                <a:solidFill>
                  <a:srgbClr val="595959"/>
                </a:solidFill>
                <a:latin typeface="Arial" pitchFamily="34" charset="0"/>
                <a:ea typeface="Arial" pitchFamily="34" charset="-122"/>
                <a:cs typeface="Arial" pitchFamily="34" charset="-120"/>
              </a:rPr>
              <a:t>Chooses by</a:t>
            </a:r>
            <a:endParaRPr lang="en-US" sz="1700" dirty="0"/>
          </a:p>
        </p:txBody>
      </p:sp>
      <p:sp>
        <p:nvSpPr>
          <p:cNvPr id="12" name="Text 10"/>
          <p:cNvSpPr txBox="1"/>
          <p:nvPr/>
        </p:nvSpPr>
        <p:spPr>
          <a:xfrm>
            <a:off x="6629400" y="2578608"/>
            <a:ext cx="4754880" cy="548640"/>
          </a:xfrm>
          <a:prstGeom prst="rect">
            <a:avLst/>
          </a:prstGeom>
          <a:noFill/>
          <a:ln/>
        </p:spPr>
        <p:txBody>
          <a:bodyPr wrap="square" lIns="0" tIns="0" rIns="0" bIns="0" rtlCol="0" anchor="t"/>
          <a:lstStyle/>
          <a:p>
            <a:pPr algn="l" indent="0" marL="0">
              <a:buNone/>
            </a:pPr>
            <a:r>
              <a:rPr lang="en-US" sz="1900" b="1" dirty="0">
                <a:solidFill>
                  <a:srgbClr val="1A1A1A"/>
                </a:solidFill>
                <a:latin typeface="Arial" pitchFamily="34" charset="0"/>
                <a:ea typeface="Arial" pitchFamily="34" charset="-122"/>
                <a:cs typeface="Arial" pitchFamily="34" charset="-120"/>
              </a:rPr>
              <a:t>3P-seq support</a:t>
            </a:r>
            <a:endParaRPr lang="en-US" sz="1900" dirty="0"/>
          </a:p>
        </p:txBody>
      </p:sp>
      <p:sp>
        <p:nvSpPr>
          <p:cNvPr id="13" name="Text 11"/>
          <p:cNvSpPr txBox="1"/>
          <p:nvPr/>
        </p:nvSpPr>
        <p:spPr>
          <a:xfrm>
            <a:off x="6629400" y="2971800"/>
            <a:ext cx="4754880" cy="731520"/>
          </a:xfrm>
          <a:prstGeom prst="rect">
            <a:avLst/>
          </a:prstGeom>
          <a:noFill/>
          <a:ln/>
        </p:spPr>
        <p:txBody>
          <a:bodyPr wrap="square" lIns="0" tIns="0" rIns="0" bIns="0" rtlCol="0" anchor="t"/>
          <a:lstStyle/>
          <a:p>
            <a:pPr algn="l" indent="0" marL="0">
              <a:buNone/>
            </a:pPr>
            <a:r>
              <a:rPr lang="en-US" sz="1700" dirty="0">
                <a:solidFill>
                  <a:srgbClr val="1A1A1A"/>
                </a:solidFill>
                <a:latin typeface="Arial" pitchFamily="34" charset="0"/>
                <a:ea typeface="Arial" pitchFamily="34" charset="-122"/>
                <a:cs typeface="Arial" pitchFamily="34" charset="-120"/>
              </a:rPr>
              <a:t>"Which 3'UTR end is actually used in real biological samples?"</a:t>
            </a:r>
            <a:endParaRPr lang="en-US" sz="1700" dirty="0"/>
          </a:p>
        </p:txBody>
      </p:sp>
      <p:sp>
        <p:nvSpPr>
          <p:cNvPr id="14" name="Shape 12"/>
          <p:cNvSpPr/>
          <p:nvPr/>
        </p:nvSpPr>
        <p:spPr>
          <a:xfrm>
            <a:off x="548640" y="4206240"/>
            <a:ext cx="11064240" cy="1920240"/>
          </a:xfrm>
          <a:prstGeom prst="roundRect">
            <a:avLst>
              <a:gd name="adj" fmla="val 3810"/>
            </a:avLst>
          </a:prstGeom>
          <a:solidFill>
            <a:srgbClr val="F2F4F7"/>
          </a:solidFill>
          <a:ln w="15875">
            <a:solidFill>
              <a:srgbClr val="BFC9D9"/>
            </a:solidFill>
            <a:prstDash val="solid"/>
          </a:ln>
        </p:spPr>
      </p:sp>
      <p:sp>
        <p:nvSpPr>
          <p:cNvPr id="15" name="Text 13"/>
          <p:cNvSpPr txBox="1"/>
          <p:nvPr/>
        </p:nvSpPr>
        <p:spPr>
          <a:xfrm>
            <a:off x="822960" y="4389120"/>
            <a:ext cx="10515600" cy="548640"/>
          </a:xfrm>
          <a:prstGeom prst="rect">
            <a:avLst/>
          </a:prstGeom>
          <a:noFill/>
          <a:ln/>
        </p:spPr>
        <p:txBody>
          <a:bodyPr wrap="square" lIns="0" tIns="0" rIns="0" bIns="0" rtlCol="0" anchor="t"/>
          <a:lstStyle/>
          <a:p>
            <a:pPr algn="l" indent="0" marL="0">
              <a:buNone/>
            </a:pPr>
            <a:r>
              <a:rPr lang="en-US" sz="1900" b="1" dirty="0">
                <a:solidFill>
                  <a:srgbClr val="1F3864"/>
                </a:solidFill>
                <a:latin typeface="Arial" pitchFamily="34" charset="0"/>
                <a:ea typeface="Arial" pitchFamily="34" charset="-122"/>
                <a:cs typeface="Arial" pitchFamily="34" charset="-120"/>
              </a:rPr>
              <a:t>Two things this measurement does NOT mean</a:t>
            </a:r>
            <a:endParaRPr lang="en-US" sz="1900" dirty="0"/>
          </a:p>
        </p:txBody>
      </p:sp>
      <p:sp>
        <p:nvSpPr>
          <p:cNvPr id="16" name="Text 14"/>
          <p:cNvSpPr txBox="1"/>
          <p:nvPr/>
        </p:nvSpPr>
        <p:spPr>
          <a:xfrm>
            <a:off x="822960" y="4800600"/>
            <a:ext cx="10515600" cy="548640"/>
          </a:xfrm>
          <a:prstGeom prst="rect">
            <a:avLst/>
          </a:prstGeom>
          <a:noFill/>
          <a:ln/>
        </p:spPr>
        <p:txBody>
          <a:bodyPr wrap="square" lIns="0" tIns="0" rIns="0" bIns="0" rtlCol="0" anchor="t"/>
          <a:lstStyle/>
          <a:p>
            <a:pPr algn="l" indent="0" marL="0">
              <a:buNone/>
            </a:pPr>
            <a:r>
              <a:rPr lang="en-US" sz="1800" b="1" dirty="0">
                <a:solidFill>
                  <a:srgbClr val="B22222"/>
                </a:solidFill>
                <a:latin typeface="Arial" pitchFamily="34" charset="0"/>
                <a:ea typeface="Arial" pitchFamily="34" charset="-122"/>
                <a:cs typeface="Arial" pitchFamily="34" charset="-120"/>
              </a:rPr>
              <a:t>It does NOT mean TargetScan is wrong for 38.7 % of genes.</a:t>
            </a:r>
            <a:endParaRPr lang="en-US" sz="1800" dirty="0"/>
          </a:p>
        </p:txBody>
      </p:sp>
      <p:sp>
        <p:nvSpPr>
          <p:cNvPr id="17" name="Text 15"/>
          <p:cNvSpPr txBox="1"/>
          <p:nvPr/>
        </p:nvSpPr>
        <p:spPr>
          <a:xfrm>
            <a:off x="822960" y="5166360"/>
            <a:ext cx="10515600" cy="548640"/>
          </a:xfrm>
          <a:prstGeom prst="rect">
            <a:avLst/>
          </a:prstGeom>
          <a:noFill/>
          <a:ln/>
        </p:spPr>
        <p:txBody>
          <a:bodyPr wrap="square" lIns="0" tIns="0" rIns="0" bIns="0" rtlCol="0" anchor="t"/>
          <a:lstStyle/>
          <a:p>
            <a:pPr algn="l" indent="0" marL="0">
              <a:buNone/>
            </a:pPr>
            <a:r>
              <a:rPr lang="en-US" sz="1800" b="1" dirty="0">
                <a:solidFill>
                  <a:srgbClr val="B22222"/>
                </a:solidFill>
                <a:latin typeface="Arial" pitchFamily="34" charset="0"/>
                <a:ea typeface="Arial" pitchFamily="34" charset="-122"/>
                <a:cs typeface="Arial" pitchFamily="34" charset="-120"/>
              </a:rPr>
              <a:t>It does NOT mean TargetScan missed 38.7 % of targets.</a:t>
            </a:r>
            <a:endParaRPr lang="en-US" sz="1800" dirty="0"/>
          </a:p>
        </p:txBody>
      </p:sp>
      <p:sp>
        <p:nvSpPr>
          <p:cNvPr id="18" name="Text 16"/>
          <p:cNvSpPr txBox="1"/>
          <p:nvPr/>
        </p:nvSpPr>
        <p:spPr>
          <a:xfrm>
            <a:off x="822960" y="5559552"/>
            <a:ext cx="10515600" cy="548640"/>
          </a:xfrm>
          <a:prstGeom prst="rect">
            <a:avLst/>
          </a:prstGeom>
          <a:noFill/>
          <a:ln/>
        </p:spPr>
        <p:txBody>
          <a:bodyPr wrap="square" lIns="0" tIns="0" rIns="0" bIns="0" rtlCol="0" anchor="t"/>
          <a:lstStyle/>
          <a:p>
            <a:pPr algn="l" indent="0" marL="0">
              <a:buNone/>
            </a:pPr>
            <a:r>
              <a:rPr lang="en-US" sz="1800" dirty="0">
                <a:solidFill>
                  <a:srgbClr val="1A1A1A"/>
                </a:solidFill>
                <a:latin typeface="Arial" pitchFamily="34" charset="0"/>
                <a:ea typeface="Arial" pitchFamily="34" charset="-122"/>
                <a:cs typeface="Arial" pitchFamily="34" charset="-120"/>
              </a:rPr>
              <a:t>It means the two use different transcript representations — a problem of coordinate comparability, not of correctness.</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685800"/>
          </a:xfrm>
          <a:prstGeom prst="rect">
            <a:avLst/>
          </a:prstGeom>
          <a:noFill/>
          <a:ln/>
        </p:spPr>
        <p:txBody>
          <a:bodyPr wrap="square" lIns="0" tIns="0" rIns="0" bIns="0" rtlCol="0" anchor="ctr"/>
          <a:lstStyle/>
          <a:p>
            <a:pPr algn="l" indent="0" marL="0">
              <a:buNone/>
            </a:pPr>
            <a:r>
              <a:rPr lang="en-US" sz="3400" b="1" dirty="0">
                <a:solidFill>
                  <a:srgbClr val="1F3864"/>
                </a:solidFill>
                <a:latin typeface="Arial" pitchFamily="34" charset="0"/>
                <a:ea typeface="Arial" pitchFamily="34" charset="-122"/>
                <a:cs typeface="Arial" pitchFamily="34" charset="-120"/>
              </a:rPr>
              <a:t>Which Tools Are Actually Affected?</a:t>
            </a:r>
            <a:endParaRPr lang="en-US" sz="3400" dirty="0"/>
          </a:p>
        </p:txBody>
      </p:sp>
      <p:sp>
        <p:nvSpPr>
          <p:cNvPr id="3" name="Text 1"/>
          <p:cNvSpPr txBox="1"/>
          <p:nvPr/>
        </p:nvSpPr>
        <p:spPr>
          <a:xfrm>
            <a:off x="548640" y="1097280"/>
            <a:ext cx="11064240" cy="548640"/>
          </a:xfrm>
          <a:prstGeom prst="rect">
            <a:avLst/>
          </a:prstGeom>
          <a:noFill/>
          <a:ln/>
        </p:spPr>
        <p:txBody>
          <a:bodyPr wrap="square" lIns="0" tIns="0" rIns="0" bIns="0" rtlCol="0" anchor="t"/>
          <a:lstStyle/>
          <a:p>
            <a:pPr algn="l" indent="0" marL="0">
              <a:buNone/>
            </a:pPr>
            <a:r>
              <a:rPr lang="en-US" sz="1900" dirty="0">
                <a:solidFill>
                  <a:srgbClr val="595959"/>
                </a:solidFill>
                <a:latin typeface="Arial" pitchFamily="34" charset="0"/>
                <a:ea typeface="Arial" pitchFamily="34" charset="-122"/>
                <a:cs typeface="Arial" pitchFamily="34" charset="-120"/>
              </a:rPr>
              <a:t>Only one of the four brings its own coordinate system.</a:t>
            </a:r>
            <a:endParaRPr lang="en-US" sz="19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11064240" cy="914400"/>
        </p:xfrm>
        <a:graphic>
          <a:graphicData uri="http://schemas.openxmlformats.org/drawingml/2006/table">
            <a:tbl>
              <a:tblPr/>
              <a:tblGrid>
                <a:gridCol w="2651760"/>
                <a:gridCol w="4754880"/>
                <a:gridCol w="3657600"/>
              </a:tblGrid>
              <a:tr h="502920">
                <a:tc>
                  <a:txBody>
                    <a:bodyPr/>
                    <a:lstStyle/>
                    <a:p>
                      <a:pPr algn="l" indent="0" marL="0">
                        <a:buNone/>
                      </a:pPr>
                      <a:r>
                        <a:rPr lang="en-US" sz="1700" b="1" dirty="0">
                          <a:solidFill>
                            <a:srgbClr val="1F3864"/>
                          </a:solidFill>
                          <a:latin typeface="Arial" pitchFamily="34" charset="0"/>
                          <a:ea typeface="Arial" pitchFamily="34" charset="-122"/>
                          <a:cs typeface="Arial" pitchFamily="34" charset="-120"/>
                        </a:rPr>
                        <a:t>Tool</a:t>
                      </a:r>
                      <a:endParaRPr lang="en-US" sz="1700" dirty="0">
                        <a:latin typeface="Arial" charset="0"/>
                        <a:ea typeface="Arial" charset="0"/>
                        <a:cs typeface="Arial" charset="0"/>
                      </a:endParaRPr>
                    </a:p>
                  </a:txBody>
                  <a:tcPr marL="73152" marR="73152" marT="73152" marB="73152" anchor="ctr">
                    <a:lnL w="12700" cap="flat" cmpd="sng" algn="ctr">
                      <a:solidFill>
                        <a:srgbClr val="BFC9D9"/>
                      </a:solidFill>
                      <a:prstDash val="solid"/>
                      <a:round/>
                      <a:headEnd type="none" w="med" len="med"/>
                      <a:tailEnd type="none" w="med" len="med"/>
                    </a:lnL>
                    <a:lnR w="12700" cap="flat" cmpd="sng" algn="ctr">
                      <a:solidFill>
                        <a:srgbClr val="BFC9D9"/>
                      </a:solidFill>
                      <a:prstDash val="solid"/>
                      <a:round/>
                      <a:headEnd type="none" w="med" len="med"/>
                      <a:tailEnd type="none" w="med" len="med"/>
                    </a:lnR>
                    <a:lnT w="12700" cap="flat" cmpd="sng" algn="ctr">
                      <a:solidFill>
                        <a:srgbClr val="BFC9D9"/>
                      </a:solidFill>
                      <a:prstDash val="solid"/>
                      <a:round/>
                      <a:headEnd type="none" w="med" len="med"/>
                      <a:tailEnd type="none" w="med" len="med"/>
                    </a:lnT>
                    <a:lnB w="12700" cap="flat" cmpd="sng" algn="ctr">
                      <a:solidFill>
                        <a:srgbClr val="BFC9D9"/>
                      </a:solidFill>
                      <a:prstDash val="solid"/>
                      <a:round/>
                      <a:headEnd type="none" w="med" len="med"/>
                      <a:tailEnd type="none" w="med" len="med"/>
                    </a:lnB>
                    <a:solidFill>
                      <a:srgbClr val="D9E2F0"/>
                    </a:solidFill>
                  </a:tcPr>
                </a:tc>
                <a:tc>
                  <a:txBody>
                    <a:bodyPr/>
                    <a:lstStyle/>
                    <a:p>
                      <a:pPr algn="l" indent="0" marL="0">
                        <a:buNone/>
                      </a:pPr>
                      <a:r>
                        <a:rPr lang="en-US" sz="1700" b="1" dirty="0">
                          <a:solidFill>
                            <a:srgbClr val="1F3864"/>
                          </a:solidFill>
                          <a:latin typeface="Arial" pitchFamily="34" charset="0"/>
                          <a:ea typeface="Arial" pitchFamily="34" charset="-122"/>
                          <a:cs typeface="Arial" pitchFamily="34" charset="-120"/>
                        </a:rPr>
                        <a:t>Where its coordinates come from</a:t>
                      </a:r>
                      <a:endParaRPr lang="en-US" sz="1700" dirty="0">
                        <a:latin typeface="Arial" charset="0"/>
                        <a:ea typeface="Arial" charset="0"/>
                        <a:cs typeface="Arial" charset="0"/>
                      </a:endParaRPr>
                    </a:p>
                  </a:txBody>
                  <a:tcPr marL="73152" marR="73152" marT="73152" marB="73152" anchor="ctr">
                    <a:lnL w="12700" cap="flat" cmpd="sng" algn="ctr">
                      <a:solidFill>
                        <a:srgbClr val="BFC9D9"/>
                      </a:solidFill>
                      <a:prstDash val="solid"/>
                      <a:round/>
                      <a:headEnd type="none" w="med" len="med"/>
                      <a:tailEnd type="none" w="med" len="med"/>
                    </a:lnL>
                    <a:lnR w="12700" cap="flat" cmpd="sng" algn="ctr">
                      <a:solidFill>
                        <a:srgbClr val="BFC9D9"/>
                      </a:solidFill>
                      <a:prstDash val="solid"/>
                      <a:round/>
                      <a:headEnd type="none" w="med" len="med"/>
                      <a:tailEnd type="none" w="med" len="med"/>
                    </a:lnR>
                    <a:lnT w="12700" cap="flat" cmpd="sng" algn="ctr">
                      <a:solidFill>
                        <a:srgbClr val="BFC9D9"/>
                      </a:solidFill>
                      <a:prstDash val="solid"/>
                      <a:round/>
                      <a:headEnd type="none" w="med" len="med"/>
                      <a:tailEnd type="none" w="med" len="med"/>
                    </a:lnT>
                    <a:lnB w="12700" cap="flat" cmpd="sng" algn="ctr">
                      <a:solidFill>
                        <a:srgbClr val="BFC9D9"/>
                      </a:solidFill>
                      <a:prstDash val="solid"/>
                      <a:round/>
                      <a:headEnd type="none" w="med" len="med"/>
                      <a:tailEnd type="none" w="med" len="med"/>
                    </a:lnB>
                    <a:solidFill>
                      <a:srgbClr val="D9E2F0"/>
                    </a:solidFill>
                  </a:tcPr>
                </a:tc>
                <a:tc>
                  <a:txBody>
                    <a:bodyPr/>
                    <a:lstStyle/>
                    <a:p>
                      <a:pPr algn="l" indent="0" marL="0">
                        <a:buNone/>
                      </a:pPr>
                      <a:r>
                        <a:rPr lang="en-US" sz="1700" b="1" dirty="0">
                          <a:solidFill>
                            <a:srgbClr val="1F3864"/>
                          </a:solidFill>
                          <a:latin typeface="Arial" pitchFamily="34" charset="0"/>
                          <a:ea typeface="Arial" pitchFamily="34" charset="-122"/>
                          <a:cs typeface="Arial" pitchFamily="34" charset="-120"/>
                        </a:rPr>
                        <a:t>Mismatch possible?</a:t>
                      </a:r>
                      <a:endParaRPr lang="en-US" sz="1700" dirty="0">
                        <a:latin typeface="Arial" charset="0"/>
                        <a:ea typeface="Arial" charset="0"/>
                        <a:cs typeface="Arial" charset="0"/>
                      </a:endParaRPr>
                    </a:p>
                  </a:txBody>
                  <a:tcPr marL="73152" marR="73152" marT="73152" marB="73152" anchor="ctr">
                    <a:lnL w="12700" cap="flat" cmpd="sng" algn="ctr">
                      <a:solidFill>
                        <a:srgbClr val="BFC9D9"/>
                      </a:solidFill>
                      <a:prstDash val="solid"/>
                      <a:round/>
                      <a:headEnd type="none" w="med" len="med"/>
                      <a:tailEnd type="none" w="med" len="med"/>
                    </a:lnL>
                    <a:lnR w="12700" cap="flat" cmpd="sng" algn="ctr">
                      <a:solidFill>
                        <a:srgbClr val="BFC9D9"/>
                      </a:solidFill>
                      <a:prstDash val="solid"/>
                      <a:round/>
                      <a:headEnd type="none" w="med" len="med"/>
                      <a:tailEnd type="none" w="med" len="med"/>
                    </a:lnR>
                    <a:lnT w="12700" cap="flat" cmpd="sng" algn="ctr">
                      <a:solidFill>
                        <a:srgbClr val="BFC9D9"/>
                      </a:solidFill>
                      <a:prstDash val="solid"/>
                      <a:round/>
                      <a:headEnd type="none" w="med" len="med"/>
                      <a:tailEnd type="none" w="med" len="med"/>
                    </a:lnT>
                    <a:lnB w="12700" cap="flat" cmpd="sng" algn="ctr">
                      <a:solidFill>
                        <a:srgbClr val="BFC9D9"/>
                      </a:solidFill>
                      <a:prstDash val="solid"/>
                      <a:round/>
                      <a:headEnd type="none" w="med" len="med"/>
                      <a:tailEnd type="none" w="med" len="med"/>
                    </a:lnB>
                    <a:solidFill>
                      <a:srgbClr val="D9E2F0"/>
                    </a:solidFill>
                  </a:tcPr>
                </a:tc>
              </a:tr>
              <a:tr h="502920">
                <a:tc>
                  <a:txBody>
                    <a:bodyPr/>
                    <a:lstStyle/>
                    <a:p>
                      <a:pPr algn="l" indent="0" marL="0">
                        <a:buNone/>
                      </a:pPr>
                      <a:r>
                        <a:rPr lang="en-US" sz="1700" b="1" dirty="0">
                          <a:solidFill>
                            <a:srgbClr val="1A1A1A"/>
                          </a:solidFill>
                          <a:latin typeface="Arial" pitchFamily="34" charset="0"/>
                          <a:ea typeface="Arial" pitchFamily="34" charset="-122"/>
                          <a:cs typeface="Arial" pitchFamily="34" charset="-120"/>
                        </a:rPr>
                        <a:t>Seed Analyser</a:t>
                      </a:r>
                      <a:endParaRPr lang="en-US" sz="1700" dirty="0">
                        <a:latin typeface="Arial" charset="0"/>
                        <a:ea typeface="Arial" charset="0"/>
                        <a:cs typeface="Arial" charset="0"/>
                      </a:endParaRPr>
                    </a:p>
                  </a:txBody>
                  <a:tcPr marL="73152" marR="73152" marT="73152" marB="73152" anchor="ctr">
                    <a:lnL w="12700" cap="flat" cmpd="sng" algn="ctr">
                      <a:solidFill>
                        <a:srgbClr val="BFC9D9"/>
                      </a:solidFill>
                      <a:prstDash val="solid"/>
                      <a:round/>
                      <a:headEnd type="none" w="med" len="med"/>
                      <a:tailEnd type="none" w="med" len="med"/>
                    </a:lnL>
                    <a:lnR w="12700" cap="flat" cmpd="sng" algn="ctr">
                      <a:solidFill>
                        <a:srgbClr val="BFC9D9"/>
                      </a:solidFill>
                      <a:prstDash val="solid"/>
                      <a:round/>
                      <a:headEnd type="none" w="med" len="med"/>
                      <a:tailEnd type="none" w="med" len="med"/>
                    </a:lnR>
                    <a:lnT w="12700" cap="flat" cmpd="sng" algn="ctr">
                      <a:solidFill>
                        <a:srgbClr val="BFC9D9"/>
                      </a:solidFill>
                      <a:prstDash val="solid"/>
                      <a:round/>
                      <a:headEnd type="none" w="med" len="med"/>
                      <a:tailEnd type="none" w="med" len="med"/>
                    </a:lnT>
                    <a:lnB w="12700" cap="flat" cmpd="sng" algn="ctr">
                      <a:solidFill>
                        <a:srgbClr val="BFC9D9"/>
                      </a:solidFill>
                      <a:prstDash val="solid"/>
                      <a:round/>
                      <a:headEnd type="none" w="med" len="med"/>
                      <a:tailEnd type="none" w="med" len="med"/>
                    </a:lnB>
                    <a:solidFill>
                      <a:srgbClr val="F2F4F7"/>
                    </a:solidFill>
                  </a:tcPr>
                </a:tc>
                <a:tc>
                  <a:txBody>
                    <a:bodyPr/>
                    <a:lstStyle/>
                    <a:p>
                      <a:pPr algn="l" indent="0" marL="0">
                        <a:buNone/>
                      </a:pPr>
                      <a:r>
                        <a:rPr lang="en-US" sz="1700" dirty="0">
                          <a:solidFill>
                            <a:srgbClr val="1A1A1A"/>
                          </a:solidFill>
                          <a:latin typeface="Arial" pitchFamily="34" charset="0"/>
                          <a:ea typeface="Arial" pitchFamily="34" charset="-122"/>
                          <a:cs typeface="Arial" pitchFamily="34" charset="-120"/>
                        </a:rPr>
                        <a:t>Scans OUR MANE sequence</a:t>
                      </a:r>
                      <a:endParaRPr lang="en-US" sz="1700" dirty="0">
                        <a:latin typeface="Arial" charset="0"/>
                        <a:ea typeface="Arial" charset="0"/>
                        <a:cs typeface="Arial" charset="0"/>
                      </a:endParaRPr>
                    </a:p>
                  </a:txBody>
                  <a:tcPr marL="73152" marR="73152" marT="73152" marB="73152" anchor="ctr">
                    <a:lnL w="12700" cap="flat" cmpd="sng" algn="ctr">
                      <a:solidFill>
                        <a:srgbClr val="BFC9D9"/>
                      </a:solidFill>
                      <a:prstDash val="solid"/>
                      <a:round/>
                      <a:headEnd type="none" w="med" len="med"/>
                      <a:tailEnd type="none" w="med" len="med"/>
                    </a:lnL>
                    <a:lnR w="12700" cap="flat" cmpd="sng" algn="ctr">
                      <a:solidFill>
                        <a:srgbClr val="BFC9D9"/>
                      </a:solidFill>
                      <a:prstDash val="solid"/>
                      <a:round/>
                      <a:headEnd type="none" w="med" len="med"/>
                      <a:tailEnd type="none" w="med" len="med"/>
                    </a:lnR>
                    <a:lnT w="12700" cap="flat" cmpd="sng" algn="ctr">
                      <a:solidFill>
                        <a:srgbClr val="BFC9D9"/>
                      </a:solidFill>
                      <a:prstDash val="solid"/>
                      <a:round/>
                      <a:headEnd type="none" w="med" len="med"/>
                      <a:tailEnd type="none" w="med" len="med"/>
                    </a:lnT>
                    <a:lnB w="12700" cap="flat" cmpd="sng" algn="ctr">
                      <a:solidFill>
                        <a:srgbClr val="BFC9D9"/>
                      </a:solidFill>
                      <a:prstDash val="solid"/>
                      <a:round/>
                      <a:headEnd type="none" w="med" len="med"/>
                      <a:tailEnd type="none" w="med" len="med"/>
                    </a:lnB>
                    <a:solidFill>
                      <a:srgbClr val="F2F4F7"/>
                    </a:solidFill>
                  </a:tcPr>
                </a:tc>
                <a:tc>
                  <a:txBody>
                    <a:bodyPr/>
                    <a:lstStyle/>
                    <a:p>
                      <a:pPr algn="l" indent="0" marL="0">
                        <a:buNone/>
                      </a:pPr>
                      <a:r>
                        <a:rPr lang="en-US" sz="1700" b="1" dirty="0">
                          <a:solidFill>
                            <a:srgbClr val="1A1A1A"/>
                          </a:solidFill>
                          <a:latin typeface="Arial" pitchFamily="34" charset="0"/>
                          <a:ea typeface="Arial" pitchFamily="34" charset="-122"/>
                          <a:cs typeface="Arial" pitchFamily="34" charset="-120"/>
                        </a:rPr>
                        <a:t>No — by construction</a:t>
                      </a:r>
                      <a:endParaRPr lang="en-US" sz="1700" dirty="0">
                        <a:latin typeface="Arial" charset="0"/>
                        <a:ea typeface="Arial" charset="0"/>
                        <a:cs typeface="Arial" charset="0"/>
                      </a:endParaRPr>
                    </a:p>
                  </a:txBody>
                  <a:tcPr marL="73152" marR="73152" marT="73152" marB="73152" anchor="ctr">
                    <a:lnL w="12700" cap="flat" cmpd="sng" algn="ctr">
                      <a:solidFill>
                        <a:srgbClr val="BFC9D9"/>
                      </a:solidFill>
                      <a:prstDash val="solid"/>
                      <a:round/>
                      <a:headEnd type="none" w="med" len="med"/>
                      <a:tailEnd type="none" w="med" len="med"/>
                    </a:lnL>
                    <a:lnR w="12700" cap="flat" cmpd="sng" algn="ctr">
                      <a:solidFill>
                        <a:srgbClr val="BFC9D9"/>
                      </a:solidFill>
                      <a:prstDash val="solid"/>
                      <a:round/>
                      <a:headEnd type="none" w="med" len="med"/>
                      <a:tailEnd type="none" w="med" len="med"/>
                    </a:lnR>
                    <a:lnT w="12700" cap="flat" cmpd="sng" algn="ctr">
                      <a:solidFill>
                        <a:srgbClr val="BFC9D9"/>
                      </a:solidFill>
                      <a:prstDash val="solid"/>
                      <a:round/>
                      <a:headEnd type="none" w="med" len="med"/>
                      <a:tailEnd type="none" w="med" len="med"/>
                    </a:lnT>
                    <a:lnB w="12700" cap="flat" cmpd="sng" algn="ctr">
                      <a:solidFill>
                        <a:srgbClr val="BFC9D9"/>
                      </a:solidFill>
                      <a:prstDash val="solid"/>
                      <a:round/>
                      <a:headEnd type="none" w="med" len="med"/>
                      <a:tailEnd type="none" w="med" len="med"/>
                    </a:lnB>
                    <a:solidFill>
                      <a:srgbClr val="F2F4F7"/>
                    </a:solidFill>
                  </a:tcPr>
                </a:tc>
              </a:tr>
              <a:tr h="502920">
                <a:tc>
                  <a:txBody>
                    <a:bodyPr/>
                    <a:lstStyle/>
                    <a:p>
                      <a:pPr algn="l" indent="0" marL="0">
                        <a:buNone/>
                      </a:pPr>
                      <a:r>
                        <a:rPr lang="en-US" sz="1700" b="1" dirty="0">
                          <a:solidFill>
                            <a:srgbClr val="1A1A1A"/>
                          </a:solidFill>
                          <a:latin typeface="Arial" pitchFamily="34" charset="0"/>
                          <a:ea typeface="Arial" pitchFamily="34" charset="-122"/>
                          <a:cs typeface="Arial" pitchFamily="34" charset="-120"/>
                        </a:rPr>
                        <a:t>RNAhybrid</a:t>
                      </a:r>
                      <a:endParaRPr lang="en-US" sz="1700" dirty="0">
                        <a:latin typeface="Arial" charset="0"/>
                        <a:ea typeface="Arial" charset="0"/>
                        <a:cs typeface="Arial" charset="0"/>
                      </a:endParaRPr>
                    </a:p>
                  </a:txBody>
                  <a:tcPr marL="73152" marR="73152" marT="73152" marB="73152" anchor="ctr">
                    <a:lnL w="12700" cap="flat" cmpd="sng" algn="ctr">
                      <a:solidFill>
                        <a:srgbClr val="BFC9D9"/>
                      </a:solidFill>
                      <a:prstDash val="solid"/>
                      <a:round/>
                      <a:headEnd type="none" w="med" len="med"/>
                      <a:tailEnd type="none" w="med" len="med"/>
                    </a:lnL>
                    <a:lnR w="12700" cap="flat" cmpd="sng" algn="ctr">
                      <a:solidFill>
                        <a:srgbClr val="BFC9D9"/>
                      </a:solidFill>
                      <a:prstDash val="solid"/>
                      <a:round/>
                      <a:headEnd type="none" w="med" len="med"/>
                      <a:tailEnd type="none" w="med" len="med"/>
                    </a:lnR>
                    <a:lnT w="12700" cap="flat" cmpd="sng" algn="ctr">
                      <a:solidFill>
                        <a:srgbClr val="BFC9D9"/>
                      </a:solidFill>
                      <a:prstDash val="solid"/>
                      <a:round/>
                      <a:headEnd type="none" w="med" len="med"/>
                      <a:tailEnd type="none" w="med" len="med"/>
                    </a:lnT>
                    <a:lnB w="12700" cap="flat" cmpd="sng" algn="ctr">
                      <a:solidFill>
                        <a:srgbClr val="BFC9D9"/>
                      </a:solidFill>
                      <a:prstDash val="solid"/>
                      <a:round/>
                      <a:headEnd type="none" w="med" len="med"/>
                      <a:tailEnd type="none" w="med" len="med"/>
                    </a:lnB>
                    <a:solidFill>
                      <a:srgbClr val="FFFFFF"/>
                    </a:solidFill>
                  </a:tcPr>
                </a:tc>
                <a:tc>
                  <a:txBody>
                    <a:bodyPr/>
                    <a:lstStyle/>
                    <a:p>
                      <a:pPr algn="l" indent="0" marL="0">
                        <a:buNone/>
                      </a:pPr>
                      <a:r>
                        <a:rPr lang="en-US" sz="1700" dirty="0">
                          <a:solidFill>
                            <a:srgbClr val="1A1A1A"/>
                          </a:solidFill>
                          <a:latin typeface="Arial" pitchFamily="34" charset="0"/>
                          <a:ea typeface="Arial" pitchFamily="34" charset="-122"/>
                          <a:cs typeface="Arial" pitchFamily="34" charset="-120"/>
                        </a:rPr>
                        <a:t>Folds OUR MANE sequence</a:t>
                      </a:r>
                      <a:endParaRPr lang="en-US" sz="1700" dirty="0">
                        <a:latin typeface="Arial" charset="0"/>
                        <a:ea typeface="Arial" charset="0"/>
                        <a:cs typeface="Arial" charset="0"/>
                      </a:endParaRPr>
                    </a:p>
                  </a:txBody>
                  <a:tcPr marL="73152" marR="73152" marT="73152" marB="73152" anchor="ctr">
                    <a:lnL w="12700" cap="flat" cmpd="sng" algn="ctr">
                      <a:solidFill>
                        <a:srgbClr val="BFC9D9"/>
                      </a:solidFill>
                      <a:prstDash val="solid"/>
                      <a:round/>
                      <a:headEnd type="none" w="med" len="med"/>
                      <a:tailEnd type="none" w="med" len="med"/>
                    </a:lnL>
                    <a:lnR w="12700" cap="flat" cmpd="sng" algn="ctr">
                      <a:solidFill>
                        <a:srgbClr val="BFC9D9"/>
                      </a:solidFill>
                      <a:prstDash val="solid"/>
                      <a:round/>
                      <a:headEnd type="none" w="med" len="med"/>
                      <a:tailEnd type="none" w="med" len="med"/>
                    </a:lnR>
                    <a:lnT w="12700" cap="flat" cmpd="sng" algn="ctr">
                      <a:solidFill>
                        <a:srgbClr val="BFC9D9"/>
                      </a:solidFill>
                      <a:prstDash val="solid"/>
                      <a:round/>
                      <a:headEnd type="none" w="med" len="med"/>
                      <a:tailEnd type="none" w="med" len="med"/>
                    </a:lnT>
                    <a:lnB w="12700" cap="flat" cmpd="sng" algn="ctr">
                      <a:solidFill>
                        <a:srgbClr val="BFC9D9"/>
                      </a:solidFill>
                      <a:prstDash val="solid"/>
                      <a:round/>
                      <a:headEnd type="none" w="med" len="med"/>
                      <a:tailEnd type="none" w="med" len="med"/>
                    </a:lnB>
                    <a:solidFill>
                      <a:srgbClr val="FFFFFF"/>
                    </a:solidFill>
                  </a:tcPr>
                </a:tc>
                <a:tc>
                  <a:txBody>
                    <a:bodyPr/>
                    <a:lstStyle/>
                    <a:p>
                      <a:pPr algn="l" indent="0" marL="0">
                        <a:buNone/>
                      </a:pPr>
                      <a:r>
                        <a:rPr lang="en-US" sz="1700" b="1" dirty="0">
                          <a:solidFill>
                            <a:srgbClr val="1A1A1A"/>
                          </a:solidFill>
                          <a:latin typeface="Arial" pitchFamily="34" charset="0"/>
                          <a:ea typeface="Arial" pitchFamily="34" charset="-122"/>
                          <a:cs typeface="Arial" pitchFamily="34" charset="-120"/>
                        </a:rPr>
                        <a:t>No — by construction</a:t>
                      </a:r>
                      <a:endParaRPr lang="en-US" sz="1700" dirty="0">
                        <a:latin typeface="Arial" charset="0"/>
                        <a:ea typeface="Arial" charset="0"/>
                        <a:cs typeface="Arial" charset="0"/>
                      </a:endParaRPr>
                    </a:p>
                  </a:txBody>
                  <a:tcPr marL="73152" marR="73152" marT="73152" marB="73152" anchor="ctr">
                    <a:lnL w="12700" cap="flat" cmpd="sng" algn="ctr">
                      <a:solidFill>
                        <a:srgbClr val="BFC9D9"/>
                      </a:solidFill>
                      <a:prstDash val="solid"/>
                      <a:round/>
                      <a:headEnd type="none" w="med" len="med"/>
                      <a:tailEnd type="none" w="med" len="med"/>
                    </a:lnL>
                    <a:lnR w="12700" cap="flat" cmpd="sng" algn="ctr">
                      <a:solidFill>
                        <a:srgbClr val="BFC9D9"/>
                      </a:solidFill>
                      <a:prstDash val="solid"/>
                      <a:round/>
                      <a:headEnd type="none" w="med" len="med"/>
                      <a:tailEnd type="none" w="med" len="med"/>
                    </a:lnR>
                    <a:lnT w="12700" cap="flat" cmpd="sng" algn="ctr">
                      <a:solidFill>
                        <a:srgbClr val="BFC9D9"/>
                      </a:solidFill>
                      <a:prstDash val="solid"/>
                      <a:round/>
                      <a:headEnd type="none" w="med" len="med"/>
                      <a:tailEnd type="none" w="med" len="med"/>
                    </a:lnT>
                    <a:lnB w="12700" cap="flat" cmpd="sng" algn="ctr">
                      <a:solidFill>
                        <a:srgbClr val="BFC9D9"/>
                      </a:solidFill>
                      <a:prstDash val="solid"/>
                      <a:round/>
                      <a:headEnd type="none" w="med" len="med"/>
                      <a:tailEnd type="none" w="med" len="med"/>
                    </a:lnB>
                    <a:solidFill>
                      <a:srgbClr val="FFFFFF"/>
                    </a:solidFill>
                  </a:tcPr>
                </a:tc>
              </a:tr>
              <a:tr h="502920">
                <a:tc>
                  <a:txBody>
                    <a:bodyPr/>
                    <a:lstStyle/>
                    <a:p>
                      <a:pPr algn="l" indent="0" marL="0">
                        <a:buNone/>
                      </a:pPr>
                      <a:r>
                        <a:rPr lang="en-US" sz="1700" b="1" dirty="0">
                          <a:solidFill>
                            <a:srgbClr val="1A1A1A"/>
                          </a:solidFill>
                          <a:latin typeface="Arial" pitchFamily="34" charset="0"/>
                          <a:ea typeface="Arial" pitchFamily="34" charset="-122"/>
                          <a:cs typeface="Arial" pitchFamily="34" charset="-120"/>
                        </a:rPr>
                        <a:t>miRTarBase</a:t>
                      </a:r>
                      <a:endParaRPr lang="en-US" sz="1700" dirty="0">
                        <a:latin typeface="Arial" charset="0"/>
                        <a:ea typeface="Arial" charset="0"/>
                        <a:cs typeface="Arial" charset="0"/>
                      </a:endParaRPr>
                    </a:p>
                  </a:txBody>
                  <a:tcPr marL="73152" marR="73152" marT="73152" marB="73152" anchor="ctr">
                    <a:lnL w="12700" cap="flat" cmpd="sng" algn="ctr">
                      <a:solidFill>
                        <a:srgbClr val="BFC9D9"/>
                      </a:solidFill>
                      <a:prstDash val="solid"/>
                      <a:round/>
                      <a:headEnd type="none" w="med" len="med"/>
                      <a:tailEnd type="none" w="med" len="med"/>
                    </a:lnL>
                    <a:lnR w="12700" cap="flat" cmpd="sng" algn="ctr">
                      <a:solidFill>
                        <a:srgbClr val="BFC9D9"/>
                      </a:solidFill>
                      <a:prstDash val="solid"/>
                      <a:round/>
                      <a:headEnd type="none" w="med" len="med"/>
                      <a:tailEnd type="none" w="med" len="med"/>
                    </a:lnR>
                    <a:lnT w="12700" cap="flat" cmpd="sng" algn="ctr">
                      <a:solidFill>
                        <a:srgbClr val="BFC9D9"/>
                      </a:solidFill>
                      <a:prstDash val="solid"/>
                      <a:round/>
                      <a:headEnd type="none" w="med" len="med"/>
                      <a:tailEnd type="none" w="med" len="med"/>
                    </a:lnT>
                    <a:lnB w="12700" cap="flat" cmpd="sng" algn="ctr">
                      <a:solidFill>
                        <a:srgbClr val="BFC9D9"/>
                      </a:solidFill>
                      <a:prstDash val="solid"/>
                      <a:round/>
                      <a:headEnd type="none" w="med" len="med"/>
                      <a:tailEnd type="none" w="med" len="med"/>
                    </a:lnB>
                    <a:solidFill>
                      <a:srgbClr val="F2F4F7"/>
                    </a:solidFill>
                  </a:tcPr>
                </a:tc>
                <a:tc>
                  <a:txBody>
                    <a:bodyPr/>
                    <a:lstStyle/>
                    <a:p>
                      <a:pPr algn="l" indent="0" marL="0">
                        <a:buNone/>
                      </a:pPr>
                      <a:r>
                        <a:rPr lang="en-US" sz="1700" dirty="0">
                          <a:solidFill>
                            <a:srgbClr val="1A1A1A"/>
                          </a:solidFill>
                          <a:latin typeface="Arial" pitchFamily="34" charset="0"/>
                          <a:ea typeface="Arial" pitchFamily="34" charset="-122"/>
                          <a:cs typeface="Arial" pitchFamily="34" charset="-120"/>
                        </a:rPr>
                        <a:t>Stores target sites as SEQUENCES</a:t>
                      </a:r>
                      <a:endParaRPr lang="en-US" sz="1700" dirty="0">
                        <a:latin typeface="Arial" charset="0"/>
                        <a:ea typeface="Arial" charset="0"/>
                        <a:cs typeface="Arial" charset="0"/>
                      </a:endParaRPr>
                    </a:p>
                  </a:txBody>
                  <a:tcPr marL="73152" marR="73152" marT="73152" marB="73152" anchor="ctr">
                    <a:lnL w="12700" cap="flat" cmpd="sng" algn="ctr">
                      <a:solidFill>
                        <a:srgbClr val="BFC9D9"/>
                      </a:solidFill>
                      <a:prstDash val="solid"/>
                      <a:round/>
                      <a:headEnd type="none" w="med" len="med"/>
                      <a:tailEnd type="none" w="med" len="med"/>
                    </a:lnL>
                    <a:lnR w="12700" cap="flat" cmpd="sng" algn="ctr">
                      <a:solidFill>
                        <a:srgbClr val="BFC9D9"/>
                      </a:solidFill>
                      <a:prstDash val="solid"/>
                      <a:round/>
                      <a:headEnd type="none" w="med" len="med"/>
                      <a:tailEnd type="none" w="med" len="med"/>
                    </a:lnR>
                    <a:lnT w="12700" cap="flat" cmpd="sng" algn="ctr">
                      <a:solidFill>
                        <a:srgbClr val="BFC9D9"/>
                      </a:solidFill>
                      <a:prstDash val="solid"/>
                      <a:round/>
                      <a:headEnd type="none" w="med" len="med"/>
                      <a:tailEnd type="none" w="med" len="med"/>
                    </a:lnT>
                    <a:lnB w="12700" cap="flat" cmpd="sng" algn="ctr">
                      <a:solidFill>
                        <a:srgbClr val="BFC9D9"/>
                      </a:solidFill>
                      <a:prstDash val="solid"/>
                      <a:round/>
                      <a:headEnd type="none" w="med" len="med"/>
                      <a:tailEnd type="none" w="med" len="med"/>
                    </a:lnB>
                    <a:solidFill>
                      <a:srgbClr val="F2F4F7"/>
                    </a:solidFill>
                  </a:tcPr>
                </a:tc>
                <a:tc>
                  <a:txBody>
                    <a:bodyPr/>
                    <a:lstStyle/>
                    <a:p>
                      <a:pPr algn="l" indent="0" marL="0">
                        <a:buNone/>
                      </a:pPr>
                      <a:r>
                        <a:rPr lang="en-US" sz="1700" b="1" dirty="0">
                          <a:solidFill>
                            <a:srgbClr val="1A1A1A"/>
                          </a:solidFill>
                          <a:latin typeface="Arial" pitchFamily="34" charset="0"/>
                          <a:ea typeface="Arial" pitchFamily="34" charset="-122"/>
                          <a:cs typeface="Arial" pitchFamily="34" charset="-120"/>
                        </a:rPr>
                        <a:t>No — sequences, not positions</a:t>
                      </a:r>
                      <a:endParaRPr lang="en-US" sz="1700" dirty="0">
                        <a:latin typeface="Arial" charset="0"/>
                        <a:ea typeface="Arial" charset="0"/>
                        <a:cs typeface="Arial" charset="0"/>
                      </a:endParaRPr>
                    </a:p>
                  </a:txBody>
                  <a:tcPr marL="73152" marR="73152" marT="73152" marB="73152" anchor="ctr">
                    <a:lnL w="12700" cap="flat" cmpd="sng" algn="ctr">
                      <a:solidFill>
                        <a:srgbClr val="BFC9D9"/>
                      </a:solidFill>
                      <a:prstDash val="solid"/>
                      <a:round/>
                      <a:headEnd type="none" w="med" len="med"/>
                      <a:tailEnd type="none" w="med" len="med"/>
                    </a:lnL>
                    <a:lnR w="12700" cap="flat" cmpd="sng" algn="ctr">
                      <a:solidFill>
                        <a:srgbClr val="BFC9D9"/>
                      </a:solidFill>
                      <a:prstDash val="solid"/>
                      <a:round/>
                      <a:headEnd type="none" w="med" len="med"/>
                      <a:tailEnd type="none" w="med" len="med"/>
                    </a:lnR>
                    <a:lnT w="12700" cap="flat" cmpd="sng" algn="ctr">
                      <a:solidFill>
                        <a:srgbClr val="BFC9D9"/>
                      </a:solidFill>
                      <a:prstDash val="solid"/>
                      <a:round/>
                      <a:headEnd type="none" w="med" len="med"/>
                      <a:tailEnd type="none" w="med" len="med"/>
                    </a:lnT>
                    <a:lnB w="12700" cap="flat" cmpd="sng" algn="ctr">
                      <a:solidFill>
                        <a:srgbClr val="BFC9D9"/>
                      </a:solidFill>
                      <a:prstDash val="solid"/>
                      <a:round/>
                      <a:headEnd type="none" w="med" len="med"/>
                      <a:tailEnd type="none" w="med" len="med"/>
                    </a:lnB>
                    <a:solidFill>
                      <a:srgbClr val="F2F4F7"/>
                    </a:solidFill>
                  </a:tcPr>
                </a:tc>
              </a:tr>
              <a:tr h="502920">
                <a:tc>
                  <a:txBody>
                    <a:bodyPr/>
                    <a:lstStyle/>
                    <a:p>
                      <a:pPr algn="l" indent="0" marL="0">
                        <a:buNone/>
                      </a:pPr>
                      <a:r>
                        <a:rPr lang="en-US" sz="1700" b="1" dirty="0">
                          <a:solidFill>
                            <a:srgbClr val="1A1A1A"/>
                          </a:solidFill>
                          <a:latin typeface="Arial" pitchFamily="34" charset="0"/>
                          <a:ea typeface="Arial" pitchFamily="34" charset="-122"/>
                          <a:cs typeface="Arial" pitchFamily="34" charset="-120"/>
                        </a:rPr>
                        <a:t>TargetScan</a:t>
                      </a:r>
                      <a:endParaRPr lang="en-US" sz="1700" dirty="0">
                        <a:latin typeface="Arial" charset="0"/>
                        <a:ea typeface="Arial" charset="0"/>
                        <a:cs typeface="Arial" charset="0"/>
                      </a:endParaRPr>
                    </a:p>
                  </a:txBody>
                  <a:tcPr marL="73152" marR="73152" marT="73152" marB="73152" anchor="ctr">
                    <a:lnL w="12700" cap="flat" cmpd="sng" algn="ctr">
                      <a:solidFill>
                        <a:srgbClr val="BFC9D9"/>
                      </a:solidFill>
                      <a:prstDash val="solid"/>
                      <a:round/>
                      <a:headEnd type="none" w="med" len="med"/>
                      <a:tailEnd type="none" w="med" len="med"/>
                    </a:lnL>
                    <a:lnR w="12700" cap="flat" cmpd="sng" algn="ctr">
                      <a:solidFill>
                        <a:srgbClr val="BFC9D9"/>
                      </a:solidFill>
                      <a:prstDash val="solid"/>
                      <a:round/>
                      <a:headEnd type="none" w="med" len="med"/>
                      <a:tailEnd type="none" w="med" len="med"/>
                    </a:lnR>
                    <a:lnT w="12700" cap="flat" cmpd="sng" algn="ctr">
                      <a:solidFill>
                        <a:srgbClr val="BFC9D9"/>
                      </a:solidFill>
                      <a:prstDash val="solid"/>
                      <a:round/>
                      <a:headEnd type="none" w="med" len="med"/>
                      <a:tailEnd type="none" w="med" len="med"/>
                    </a:lnT>
                    <a:lnB w="12700" cap="flat" cmpd="sng" algn="ctr">
                      <a:solidFill>
                        <a:srgbClr val="BFC9D9"/>
                      </a:solidFill>
                      <a:prstDash val="solid"/>
                      <a:round/>
                      <a:headEnd type="none" w="med" len="med"/>
                      <a:tailEnd type="none" w="med" len="med"/>
                    </a:lnB>
                    <a:solidFill>
                      <a:srgbClr val="FFFFFF"/>
                    </a:solidFill>
                  </a:tcPr>
                </a:tc>
                <a:tc>
                  <a:txBody>
                    <a:bodyPr/>
                    <a:lstStyle/>
                    <a:p>
                      <a:pPr algn="l" indent="0" marL="0">
                        <a:buNone/>
                      </a:pPr>
                      <a:r>
                        <a:rPr lang="en-US" sz="1700" dirty="0">
                          <a:solidFill>
                            <a:srgbClr val="1A1A1A"/>
                          </a:solidFill>
                          <a:latin typeface="Arial" pitchFamily="34" charset="0"/>
                          <a:ea typeface="Arial" pitchFamily="34" charset="-122"/>
                          <a:cs typeface="Arial" pitchFamily="34" charset="-120"/>
                        </a:rPr>
                        <a:t>Ships PRECOMPUTED coordinates</a:t>
                      </a:r>
                      <a:endParaRPr lang="en-US" sz="1700" dirty="0">
                        <a:latin typeface="Arial" charset="0"/>
                        <a:ea typeface="Arial" charset="0"/>
                        <a:cs typeface="Arial" charset="0"/>
                      </a:endParaRPr>
                    </a:p>
                  </a:txBody>
                  <a:tcPr marL="73152" marR="73152" marT="73152" marB="73152" anchor="ctr">
                    <a:lnL w="12700" cap="flat" cmpd="sng" algn="ctr">
                      <a:solidFill>
                        <a:srgbClr val="BFC9D9"/>
                      </a:solidFill>
                      <a:prstDash val="solid"/>
                      <a:round/>
                      <a:headEnd type="none" w="med" len="med"/>
                      <a:tailEnd type="none" w="med" len="med"/>
                    </a:lnL>
                    <a:lnR w="12700" cap="flat" cmpd="sng" algn="ctr">
                      <a:solidFill>
                        <a:srgbClr val="BFC9D9"/>
                      </a:solidFill>
                      <a:prstDash val="solid"/>
                      <a:round/>
                      <a:headEnd type="none" w="med" len="med"/>
                      <a:tailEnd type="none" w="med" len="med"/>
                    </a:lnR>
                    <a:lnT w="12700" cap="flat" cmpd="sng" algn="ctr">
                      <a:solidFill>
                        <a:srgbClr val="BFC9D9"/>
                      </a:solidFill>
                      <a:prstDash val="solid"/>
                      <a:round/>
                      <a:headEnd type="none" w="med" len="med"/>
                      <a:tailEnd type="none" w="med" len="med"/>
                    </a:lnT>
                    <a:lnB w="12700" cap="flat" cmpd="sng" algn="ctr">
                      <a:solidFill>
                        <a:srgbClr val="BFC9D9"/>
                      </a:solidFill>
                      <a:prstDash val="solid"/>
                      <a:round/>
                      <a:headEnd type="none" w="med" len="med"/>
                      <a:tailEnd type="none" w="med" len="med"/>
                    </a:lnB>
                    <a:solidFill>
                      <a:srgbClr val="FFFFFF"/>
                    </a:solidFill>
                  </a:tcPr>
                </a:tc>
                <a:tc>
                  <a:txBody>
                    <a:bodyPr/>
                    <a:lstStyle/>
                    <a:p>
                      <a:pPr algn="l" indent="0" marL="0">
                        <a:buNone/>
                      </a:pPr>
                      <a:r>
                        <a:rPr lang="en-US" sz="1700" b="1" dirty="0">
                          <a:solidFill>
                            <a:srgbClr val="1A1A1A"/>
                          </a:solidFill>
                          <a:latin typeface="Arial" pitchFamily="34" charset="0"/>
                          <a:ea typeface="Arial" pitchFamily="34" charset="-122"/>
                          <a:cs typeface="Arial" pitchFamily="34" charset="-120"/>
                        </a:rPr>
                        <a:t>YES — measured at 38.7 %</a:t>
                      </a:r>
                      <a:endParaRPr lang="en-US" sz="1700" dirty="0">
                        <a:latin typeface="Arial" charset="0"/>
                        <a:ea typeface="Arial" charset="0"/>
                        <a:cs typeface="Arial" charset="0"/>
                      </a:endParaRPr>
                    </a:p>
                  </a:txBody>
                  <a:tcPr marL="73152" marR="73152" marT="73152" marB="73152" anchor="ctr">
                    <a:lnL w="12700" cap="flat" cmpd="sng" algn="ctr">
                      <a:solidFill>
                        <a:srgbClr val="BFC9D9"/>
                      </a:solidFill>
                      <a:prstDash val="solid"/>
                      <a:round/>
                      <a:headEnd type="none" w="med" len="med"/>
                      <a:tailEnd type="none" w="med" len="med"/>
                    </a:lnL>
                    <a:lnR w="12700" cap="flat" cmpd="sng" algn="ctr">
                      <a:solidFill>
                        <a:srgbClr val="BFC9D9"/>
                      </a:solidFill>
                      <a:prstDash val="solid"/>
                      <a:round/>
                      <a:headEnd type="none" w="med" len="med"/>
                      <a:tailEnd type="none" w="med" len="med"/>
                    </a:lnR>
                    <a:lnT w="12700" cap="flat" cmpd="sng" algn="ctr">
                      <a:solidFill>
                        <a:srgbClr val="BFC9D9"/>
                      </a:solidFill>
                      <a:prstDash val="solid"/>
                      <a:round/>
                      <a:headEnd type="none" w="med" len="med"/>
                      <a:tailEnd type="none" w="med" len="med"/>
                    </a:lnT>
                    <a:lnB w="12700" cap="flat" cmpd="sng" algn="ctr">
                      <a:solidFill>
                        <a:srgbClr val="BFC9D9"/>
                      </a:solidFill>
                      <a:prstDash val="solid"/>
                      <a:round/>
                      <a:headEnd type="none" w="med" len="med"/>
                      <a:tailEnd type="none" w="med" len="med"/>
                    </a:lnB>
                    <a:solidFill>
                      <a:srgbClr val="FFFFFF"/>
                    </a:solidFill>
                  </a:tcPr>
                </a:tc>
              </a:tr>
            </a:tbl>
          </a:graphicData>
        </a:graphic>
      </p:graphicFrame>
      <p:sp>
        <p:nvSpPr>
          <p:cNvPr id="5" name="Shape 2"/>
          <p:cNvSpPr/>
          <p:nvPr/>
        </p:nvSpPr>
        <p:spPr>
          <a:xfrm>
            <a:off x="548640" y="4526280"/>
            <a:ext cx="11064240" cy="1234440"/>
          </a:xfrm>
          <a:prstGeom prst="roundRect">
            <a:avLst>
              <a:gd name="adj" fmla="val 5926"/>
            </a:avLst>
          </a:prstGeom>
          <a:solidFill>
            <a:srgbClr val="E8F1EA"/>
          </a:solidFill>
          <a:ln w="15875">
            <a:solidFill>
              <a:srgbClr val="8FB89C"/>
            </a:solidFill>
            <a:prstDash val="solid"/>
          </a:ln>
        </p:spPr>
      </p:sp>
      <p:sp>
        <p:nvSpPr>
          <p:cNvPr id="6" name="Text 3"/>
          <p:cNvSpPr txBox="1"/>
          <p:nvPr/>
        </p:nvSpPr>
        <p:spPr>
          <a:xfrm>
            <a:off x="822960" y="4709160"/>
            <a:ext cx="10515600" cy="548640"/>
          </a:xfrm>
          <a:prstGeom prst="rect">
            <a:avLst/>
          </a:prstGeom>
          <a:noFill/>
          <a:ln/>
        </p:spPr>
        <p:txBody>
          <a:bodyPr wrap="square" lIns="0" tIns="0" rIns="0" bIns="0" rtlCol="0" anchor="t"/>
          <a:lstStyle/>
          <a:p>
            <a:pPr algn="l" indent="0" marL="0">
              <a:buNone/>
            </a:pPr>
            <a:r>
              <a:rPr lang="en-US" sz="2000" b="1" dirty="0">
                <a:solidFill>
                  <a:srgbClr val="1A6B3C"/>
                </a:solidFill>
                <a:latin typeface="Arial" pitchFamily="34" charset="0"/>
                <a:ea typeface="Arial" pitchFamily="34" charset="-122"/>
                <a:cs typeface="Arial" pitchFamily="34" charset="-120"/>
              </a:rPr>
              <a:t>There is exactly ONE external coordinate system in the whole project.</a:t>
            </a:r>
            <a:endParaRPr lang="en-US" sz="2000" dirty="0"/>
          </a:p>
        </p:txBody>
      </p:sp>
      <p:sp>
        <p:nvSpPr>
          <p:cNvPr id="7" name="Text 4"/>
          <p:cNvSpPr txBox="1"/>
          <p:nvPr/>
        </p:nvSpPr>
        <p:spPr>
          <a:xfrm>
            <a:off x="822960" y="5120640"/>
            <a:ext cx="10515600" cy="548640"/>
          </a:xfrm>
          <a:prstGeom prst="rect">
            <a:avLst/>
          </a:prstGeom>
          <a:noFill/>
          <a:ln/>
        </p:spPr>
        <p:txBody>
          <a:bodyPr wrap="square" lIns="0" tIns="0" rIns="0" bIns="0" rtlCol="0" anchor="t"/>
          <a:lstStyle/>
          <a:p>
            <a:pPr algn="l" indent="0" marL="0">
              <a:buNone/>
            </a:pPr>
            <a:r>
              <a:rPr lang="en-US" sz="1800" dirty="0">
                <a:solidFill>
                  <a:srgbClr val="1A1A1A"/>
                </a:solidFill>
                <a:latin typeface="Arial" pitchFamily="34" charset="0"/>
                <a:ea typeface="Arial" pitchFamily="34" charset="-122"/>
                <a:cs typeface="Arial" pitchFamily="34" charset="-120"/>
              </a:rPr>
              <a:t>It was measured, and it is handled by refusing to display its positions at all.</a:t>
            </a:r>
            <a:endParaRPr lang="en-US"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685800"/>
          </a:xfrm>
          <a:prstGeom prst="rect">
            <a:avLst/>
          </a:prstGeom>
          <a:noFill/>
          <a:ln/>
        </p:spPr>
        <p:txBody>
          <a:bodyPr wrap="square" lIns="0" tIns="0" rIns="0" bIns="0" rtlCol="0" anchor="ctr"/>
          <a:lstStyle/>
          <a:p>
            <a:pPr algn="l" indent="0" marL="0">
              <a:buNone/>
            </a:pPr>
            <a:r>
              <a:rPr lang="en-US" sz="3400" b="1" dirty="0">
                <a:solidFill>
                  <a:srgbClr val="1F3864"/>
                </a:solidFill>
                <a:latin typeface="Arial" pitchFamily="34" charset="0"/>
                <a:ea typeface="Arial" pitchFamily="34" charset="-122"/>
                <a:cs typeface="Arial" pitchFamily="34" charset="-120"/>
              </a:rPr>
              <a:t>Connecting TargetScan: The Join Key Test</a:t>
            </a:r>
            <a:endParaRPr lang="en-US" sz="3400" dirty="0"/>
          </a:p>
        </p:txBody>
      </p:sp>
      <p:sp>
        <p:nvSpPr>
          <p:cNvPr id="3" name="Text 1"/>
          <p:cNvSpPr txBox="1"/>
          <p:nvPr/>
        </p:nvSpPr>
        <p:spPr>
          <a:xfrm>
            <a:off x="548640" y="1078992"/>
            <a:ext cx="11064240" cy="457200"/>
          </a:xfrm>
          <a:prstGeom prst="rect">
            <a:avLst/>
          </a:prstGeom>
          <a:noFill/>
          <a:ln/>
        </p:spPr>
        <p:txBody>
          <a:bodyPr wrap="square" lIns="0" tIns="0" rIns="0" bIns="0" rtlCol="0" anchor="t"/>
          <a:lstStyle/>
          <a:p>
            <a:pPr algn="l" indent="0" marL="0">
              <a:buNone/>
            </a:pPr>
            <a:r>
              <a:rPr lang="en-US" sz="1800" dirty="0">
                <a:solidFill>
                  <a:srgbClr val="595959"/>
                </a:solidFill>
                <a:latin typeface="Arial" pitchFamily="34" charset="0"/>
                <a:ea typeface="Arial" pitchFamily="34" charset="-122"/>
                <a:cs typeface="Arial" pitchFamily="34" charset="-120"/>
              </a:rPr>
              <a:t>Of TargetScan's 19,474 genes, how many can be linked to a MANE gene using each identifier?</a:t>
            </a:r>
            <a:endParaRPr lang="en-US" sz="18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11064240" cy="914400"/>
        </p:xfrm>
        <a:graphic>
          <a:graphicData uri="http://schemas.openxmlformats.org/drawingml/2006/table">
            <a:tbl>
              <a:tblPr/>
              <a:tblGrid>
                <a:gridCol w="5760720"/>
                <a:gridCol w="5303520"/>
              </a:tblGrid>
              <a:tr h="502920">
                <a:tc>
                  <a:txBody>
                    <a:bodyPr/>
                    <a:lstStyle/>
                    <a:p>
                      <a:pPr algn="l" indent="0" marL="0">
                        <a:buNone/>
                      </a:pPr>
                      <a:r>
                        <a:rPr lang="en-US" sz="1700" b="1" dirty="0">
                          <a:solidFill>
                            <a:srgbClr val="1F3864"/>
                          </a:solidFill>
                          <a:latin typeface="Arial" pitchFamily="34" charset="0"/>
                          <a:ea typeface="Arial" pitchFamily="34" charset="-122"/>
                          <a:cs typeface="Arial" pitchFamily="34" charset="-120"/>
                        </a:rPr>
                        <a:t>Identifier used to join</a:t>
                      </a:r>
                      <a:endParaRPr lang="en-US" sz="1700" dirty="0">
                        <a:latin typeface="Arial" charset="0"/>
                        <a:ea typeface="Arial" charset="0"/>
                        <a:cs typeface="Arial" charset="0"/>
                      </a:endParaRPr>
                    </a:p>
                  </a:txBody>
                  <a:tcPr marL="73152" marR="73152" marT="73152" marB="73152" anchor="ctr">
                    <a:lnL w="12700" cap="flat" cmpd="sng" algn="ctr">
                      <a:solidFill>
                        <a:srgbClr val="BFC9D9"/>
                      </a:solidFill>
                      <a:prstDash val="solid"/>
                      <a:round/>
                      <a:headEnd type="none" w="med" len="med"/>
                      <a:tailEnd type="none" w="med" len="med"/>
                    </a:lnL>
                    <a:lnR w="12700" cap="flat" cmpd="sng" algn="ctr">
                      <a:solidFill>
                        <a:srgbClr val="BFC9D9"/>
                      </a:solidFill>
                      <a:prstDash val="solid"/>
                      <a:round/>
                      <a:headEnd type="none" w="med" len="med"/>
                      <a:tailEnd type="none" w="med" len="med"/>
                    </a:lnR>
                    <a:lnT w="12700" cap="flat" cmpd="sng" algn="ctr">
                      <a:solidFill>
                        <a:srgbClr val="BFC9D9"/>
                      </a:solidFill>
                      <a:prstDash val="solid"/>
                      <a:round/>
                      <a:headEnd type="none" w="med" len="med"/>
                      <a:tailEnd type="none" w="med" len="med"/>
                    </a:lnT>
                    <a:lnB w="12700" cap="flat" cmpd="sng" algn="ctr">
                      <a:solidFill>
                        <a:srgbClr val="BFC9D9"/>
                      </a:solidFill>
                      <a:prstDash val="solid"/>
                      <a:round/>
                      <a:headEnd type="none" w="med" len="med"/>
                      <a:tailEnd type="none" w="med" len="med"/>
                    </a:lnB>
                    <a:solidFill>
                      <a:srgbClr val="D9E2F0"/>
                    </a:solidFill>
                  </a:tcPr>
                </a:tc>
                <a:tc>
                  <a:txBody>
                    <a:bodyPr/>
                    <a:lstStyle/>
                    <a:p>
                      <a:pPr algn="l" indent="0" marL="0">
                        <a:buNone/>
                      </a:pPr>
                      <a:r>
                        <a:rPr lang="en-US" sz="1700" b="1" dirty="0">
                          <a:solidFill>
                            <a:srgbClr val="1F3864"/>
                          </a:solidFill>
                          <a:latin typeface="Arial" pitchFamily="34" charset="0"/>
                          <a:ea typeface="Arial" pitchFamily="34" charset="-122"/>
                          <a:cs typeface="Arial" pitchFamily="34" charset="-120"/>
                        </a:rPr>
                        <a:t>TargetScan genes matched to MANE</a:t>
                      </a:r>
                      <a:endParaRPr lang="en-US" sz="1700" dirty="0">
                        <a:latin typeface="Arial" charset="0"/>
                        <a:ea typeface="Arial" charset="0"/>
                        <a:cs typeface="Arial" charset="0"/>
                      </a:endParaRPr>
                    </a:p>
                  </a:txBody>
                  <a:tcPr marL="73152" marR="73152" marT="73152" marB="73152" anchor="ctr">
                    <a:lnL w="12700" cap="flat" cmpd="sng" algn="ctr">
                      <a:solidFill>
                        <a:srgbClr val="BFC9D9"/>
                      </a:solidFill>
                      <a:prstDash val="solid"/>
                      <a:round/>
                      <a:headEnd type="none" w="med" len="med"/>
                      <a:tailEnd type="none" w="med" len="med"/>
                    </a:lnL>
                    <a:lnR w="12700" cap="flat" cmpd="sng" algn="ctr">
                      <a:solidFill>
                        <a:srgbClr val="BFC9D9"/>
                      </a:solidFill>
                      <a:prstDash val="solid"/>
                      <a:round/>
                      <a:headEnd type="none" w="med" len="med"/>
                      <a:tailEnd type="none" w="med" len="med"/>
                    </a:lnR>
                    <a:lnT w="12700" cap="flat" cmpd="sng" algn="ctr">
                      <a:solidFill>
                        <a:srgbClr val="BFC9D9"/>
                      </a:solidFill>
                      <a:prstDash val="solid"/>
                      <a:round/>
                      <a:headEnd type="none" w="med" len="med"/>
                      <a:tailEnd type="none" w="med" len="med"/>
                    </a:lnT>
                    <a:lnB w="12700" cap="flat" cmpd="sng" algn="ctr">
                      <a:solidFill>
                        <a:srgbClr val="BFC9D9"/>
                      </a:solidFill>
                      <a:prstDash val="solid"/>
                      <a:round/>
                      <a:headEnd type="none" w="med" len="med"/>
                      <a:tailEnd type="none" w="med" len="med"/>
                    </a:lnB>
                    <a:solidFill>
                      <a:srgbClr val="D9E2F0"/>
                    </a:solidFill>
                  </a:tcPr>
                </a:tc>
              </a:tr>
              <a:tr h="502920">
                <a:tc>
                  <a:txBody>
                    <a:bodyPr/>
                    <a:lstStyle/>
                    <a:p>
                      <a:pPr algn="l" indent="0" marL="0">
                        <a:buNone/>
                      </a:pPr>
                      <a:r>
                        <a:rPr lang="en-US" sz="1700" dirty="0">
                          <a:solidFill>
                            <a:srgbClr val="1A1A1A"/>
                          </a:solidFill>
                          <a:latin typeface="Arial" pitchFamily="34" charset="0"/>
                          <a:ea typeface="Arial" pitchFamily="34" charset="-122"/>
                          <a:cs typeface="Arial" pitchFamily="34" charset="-120"/>
                        </a:rPr>
                        <a:t>Ensembl transcript</a:t>
                      </a:r>
                      <a:endParaRPr lang="en-US" sz="1700" dirty="0">
                        <a:latin typeface="Arial" charset="0"/>
                        <a:ea typeface="Arial" charset="0"/>
                        <a:cs typeface="Arial" charset="0"/>
                      </a:endParaRPr>
                    </a:p>
                  </a:txBody>
                  <a:tcPr marL="73152" marR="73152" marT="73152" marB="73152" anchor="ctr">
                    <a:lnL w="12700" cap="flat" cmpd="sng" algn="ctr">
                      <a:solidFill>
                        <a:srgbClr val="BFC9D9"/>
                      </a:solidFill>
                      <a:prstDash val="solid"/>
                      <a:round/>
                      <a:headEnd type="none" w="med" len="med"/>
                      <a:tailEnd type="none" w="med" len="med"/>
                    </a:lnL>
                    <a:lnR w="12700" cap="flat" cmpd="sng" algn="ctr">
                      <a:solidFill>
                        <a:srgbClr val="BFC9D9"/>
                      </a:solidFill>
                      <a:prstDash val="solid"/>
                      <a:round/>
                      <a:headEnd type="none" w="med" len="med"/>
                      <a:tailEnd type="none" w="med" len="med"/>
                    </a:lnR>
                    <a:lnT w="12700" cap="flat" cmpd="sng" algn="ctr">
                      <a:solidFill>
                        <a:srgbClr val="BFC9D9"/>
                      </a:solidFill>
                      <a:prstDash val="solid"/>
                      <a:round/>
                      <a:headEnd type="none" w="med" len="med"/>
                      <a:tailEnd type="none" w="med" len="med"/>
                    </a:lnT>
                    <a:lnB w="12700" cap="flat" cmpd="sng" algn="ctr">
                      <a:solidFill>
                        <a:srgbClr val="BFC9D9"/>
                      </a:solidFill>
                      <a:prstDash val="solid"/>
                      <a:round/>
                      <a:headEnd type="none" w="med" len="med"/>
                      <a:tailEnd type="none" w="med" len="med"/>
                    </a:lnB>
                    <a:solidFill>
                      <a:srgbClr val="F2F4F7"/>
                    </a:solidFill>
                  </a:tcPr>
                </a:tc>
                <a:tc>
                  <a:txBody>
                    <a:bodyPr/>
                    <a:lstStyle/>
                    <a:p>
                      <a:pPr algn="l" indent="0" marL="0">
                        <a:buNone/>
                      </a:pPr>
                      <a:r>
                        <a:rPr lang="en-US" sz="1700" b="1" dirty="0">
                          <a:solidFill>
                            <a:srgbClr val="1A1A1A"/>
                          </a:solidFill>
                          <a:latin typeface="Arial" pitchFamily="34" charset="0"/>
                          <a:ea typeface="Arial" pitchFamily="34" charset="-122"/>
                          <a:cs typeface="Arial" pitchFamily="34" charset="-120"/>
                        </a:rPr>
                        <a:t>12,875     — loses about 6,600 genes</a:t>
                      </a:r>
                      <a:endParaRPr lang="en-US" sz="1700" dirty="0">
                        <a:latin typeface="Arial" charset="0"/>
                        <a:ea typeface="Arial" charset="0"/>
                        <a:cs typeface="Arial" charset="0"/>
                      </a:endParaRPr>
                    </a:p>
                  </a:txBody>
                  <a:tcPr marL="73152" marR="73152" marT="73152" marB="73152" anchor="ctr">
                    <a:lnL w="12700" cap="flat" cmpd="sng" algn="ctr">
                      <a:solidFill>
                        <a:srgbClr val="BFC9D9"/>
                      </a:solidFill>
                      <a:prstDash val="solid"/>
                      <a:round/>
                      <a:headEnd type="none" w="med" len="med"/>
                      <a:tailEnd type="none" w="med" len="med"/>
                    </a:lnL>
                    <a:lnR w="12700" cap="flat" cmpd="sng" algn="ctr">
                      <a:solidFill>
                        <a:srgbClr val="BFC9D9"/>
                      </a:solidFill>
                      <a:prstDash val="solid"/>
                      <a:round/>
                      <a:headEnd type="none" w="med" len="med"/>
                      <a:tailEnd type="none" w="med" len="med"/>
                    </a:lnR>
                    <a:lnT w="12700" cap="flat" cmpd="sng" algn="ctr">
                      <a:solidFill>
                        <a:srgbClr val="BFC9D9"/>
                      </a:solidFill>
                      <a:prstDash val="solid"/>
                      <a:round/>
                      <a:headEnd type="none" w="med" len="med"/>
                      <a:tailEnd type="none" w="med" len="med"/>
                    </a:lnT>
                    <a:lnB w="12700" cap="flat" cmpd="sng" algn="ctr">
                      <a:solidFill>
                        <a:srgbClr val="BFC9D9"/>
                      </a:solidFill>
                      <a:prstDash val="solid"/>
                      <a:round/>
                      <a:headEnd type="none" w="med" len="med"/>
                      <a:tailEnd type="none" w="med" len="med"/>
                    </a:lnB>
                    <a:solidFill>
                      <a:srgbClr val="F2F4F7"/>
                    </a:solidFill>
                  </a:tcPr>
                </a:tc>
              </a:tr>
              <a:tr h="502920">
                <a:tc>
                  <a:txBody>
                    <a:bodyPr/>
                    <a:lstStyle/>
                    <a:p>
                      <a:pPr algn="l" indent="0" marL="0">
                        <a:buNone/>
                      </a:pPr>
                      <a:r>
                        <a:rPr lang="en-US" sz="1700" dirty="0">
                          <a:solidFill>
                            <a:srgbClr val="1A1A1A"/>
                          </a:solidFill>
                          <a:latin typeface="Arial" pitchFamily="34" charset="0"/>
                          <a:ea typeface="Arial" pitchFamily="34" charset="-122"/>
                          <a:cs typeface="Arial" pitchFamily="34" charset="-120"/>
                        </a:rPr>
                        <a:t>Ensembl gene</a:t>
                      </a:r>
                      <a:endParaRPr lang="en-US" sz="1700" dirty="0">
                        <a:latin typeface="Arial" charset="0"/>
                        <a:ea typeface="Arial" charset="0"/>
                        <a:cs typeface="Arial" charset="0"/>
                      </a:endParaRPr>
                    </a:p>
                  </a:txBody>
                  <a:tcPr marL="73152" marR="73152" marT="73152" marB="73152" anchor="ctr">
                    <a:lnL w="12700" cap="flat" cmpd="sng" algn="ctr">
                      <a:solidFill>
                        <a:srgbClr val="BFC9D9"/>
                      </a:solidFill>
                      <a:prstDash val="solid"/>
                      <a:round/>
                      <a:headEnd type="none" w="med" len="med"/>
                      <a:tailEnd type="none" w="med" len="med"/>
                    </a:lnL>
                    <a:lnR w="12700" cap="flat" cmpd="sng" algn="ctr">
                      <a:solidFill>
                        <a:srgbClr val="BFC9D9"/>
                      </a:solidFill>
                      <a:prstDash val="solid"/>
                      <a:round/>
                      <a:headEnd type="none" w="med" len="med"/>
                      <a:tailEnd type="none" w="med" len="med"/>
                    </a:lnR>
                    <a:lnT w="12700" cap="flat" cmpd="sng" algn="ctr">
                      <a:solidFill>
                        <a:srgbClr val="BFC9D9"/>
                      </a:solidFill>
                      <a:prstDash val="solid"/>
                      <a:round/>
                      <a:headEnd type="none" w="med" len="med"/>
                      <a:tailEnd type="none" w="med" len="med"/>
                    </a:lnT>
                    <a:lnB w="12700" cap="flat" cmpd="sng" algn="ctr">
                      <a:solidFill>
                        <a:srgbClr val="BFC9D9"/>
                      </a:solidFill>
                      <a:prstDash val="solid"/>
                      <a:round/>
                      <a:headEnd type="none" w="med" len="med"/>
                      <a:tailEnd type="none" w="med" len="med"/>
                    </a:lnB>
                    <a:solidFill>
                      <a:srgbClr val="FFFFFF"/>
                    </a:solidFill>
                  </a:tcPr>
                </a:tc>
                <a:tc>
                  <a:txBody>
                    <a:bodyPr/>
                    <a:lstStyle/>
                    <a:p>
                      <a:pPr algn="l" indent="0" marL="0">
                        <a:buNone/>
                      </a:pPr>
                      <a:r>
                        <a:rPr lang="en-US" sz="1700" b="1" dirty="0">
                          <a:solidFill>
                            <a:srgbClr val="1A1A1A"/>
                          </a:solidFill>
                          <a:latin typeface="Arial" pitchFamily="34" charset="0"/>
                          <a:ea typeface="Arial" pitchFamily="34" charset="-122"/>
                          <a:cs typeface="Arial" pitchFamily="34" charset="-120"/>
                        </a:rPr>
                        <a:t>18,187</a:t>
                      </a:r>
                      <a:endParaRPr lang="en-US" sz="1700" dirty="0">
                        <a:latin typeface="Arial" charset="0"/>
                        <a:ea typeface="Arial" charset="0"/>
                        <a:cs typeface="Arial" charset="0"/>
                      </a:endParaRPr>
                    </a:p>
                  </a:txBody>
                  <a:tcPr marL="73152" marR="73152" marT="73152" marB="73152" anchor="ctr">
                    <a:lnL w="12700" cap="flat" cmpd="sng" algn="ctr">
                      <a:solidFill>
                        <a:srgbClr val="BFC9D9"/>
                      </a:solidFill>
                      <a:prstDash val="solid"/>
                      <a:round/>
                      <a:headEnd type="none" w="med" len="med"/>
                      <a:tailEnd type="none" w="med" len="med"/>
                    </a:lnL>
                    <a:lnR w="12700" cap="flat" cmpd="sng" algn="ctr">
                      <a:solidFill>
                        <a:srgbClr val="BFC9D9"/>
                      </a:solidFill>
                      <a:prstDash val="solid"/>
                      <a:round/>
                      <a:headEnd type="none" w="med" len="med"/>
                      <a:tailEnd type="none" w="med" len="med"/>
                    </a:lnR>
                    <a:lnT w="12700" cap="flat" cmpd="sng" algn="ctr">
                      <a:solidFill>
                        <a:srgbClr val="BFC9D9"/>
                      </a:solidFill>
                      <a:prstDash val="solid"/>
                      <a:round/>
                      <a:headEnd type="none" w="med" len="med"/>
                      <a:tailEnd type="none" w="med" len="med"/>
                    </a:lnT>
                    <a:lnB w="12700" cap="flat" cmpd="sng" algn="ctr">
                      <a:solidFill>
                        <a:srgbClr val="BFC9D9"/>
                      </a:solidFill>
                      <a:prstDash val="solid"/>
                      <a:round/>
                      <a:headEnd type="none" w="med" len="med"/>
                      <a:tailEnd type="none" w="med" len="med"/>
                    </a:lnB>
                    <a:solidFill>
                      <a:srgbClr val="FFFFFF"/>
                    </a:solidFill>
                  </a:tcPr>
                </a:tc>
              </a:tr>
              <a:tr h="502920">
                <a:tc>
                  <a:txBody>
                    <a:bodyPr/>
                    <a:lstStyle/>
                    <a:p>
                      <a:pPr algn="l" indent="0" marL="0">
                        <a:buNone/>
                      </a:pPr>
                      <a:r>
                        <a:rPr lang="en-US" sz="1700" dirty="0">
                          <a:solidFill>
                            <a:srgbClr val="1A1A1A"/>
                          </a:solidFill>
                          <a:latin typeface="Arial" pitchFamily="34" charset="0"/>
                          <a:ea typeface="Arial" pitchFamily="34" charset="-122"/>
                          <a:cs typeface="Arial" pitchFamily="34" charset="-120"/>
                        </a:rPr>
                        <a:t>Gene symbol</a:t>
                      </a:r>
                      <a:endParaRPr lang="en-US" sz="1700" dirty="0">
                        <a:latin typeface="Arial" charset="0"/>
                        <a:ea typeface="Arial" charset="0"/>
                        <a:cs typeface="Arial" charset="0"/>
                      </a:endParaRPr>
                    </a:p>
                  </a:txBody>
                  <a:tcPr marL="73152" marR="73152" marT="73152" marB="73152" anchor="ctr">
                    <a:lnL w="12700" cap="flat" cmpd="sng" algn="ctr">
                      <a:solidFill>
                        <a:srgbClr val="BFC9D9"/>
                      </a:solidFill>
                      <a:prstDash val="solid"/>
                      <a:round/>
                      <a:headEnd type="none" w="med" len="med"/>
                      <a:tailEnd type="none" w="med" len="med"/>
                    </a:lnL>
                    <a:lnR w="12700" cap="flat" cmpd="sng" algn="ctr">
                      <a:solidFill>
                        <a:srgbClr val="BFC9D9"/>
                      </a:solidFill>
                      <a:prstDash val="solid"/>
                      <a:round/>
                      <a:headEnd type="none" w="med" len="med"/>
                      <a:tailEnd type="none" w="med" len="med"/>
                    </a:lnR>
                    <a:lnT w="12700" cap="flat" cmpd="sng" algn="ctr">
                      <a:solidFill>
                        <a:srgbClr val="BFC9D9"/>
                      </a:solidFill>
                      <a:prstDash val="solid"/>
                      <a:round/>
                      <a:headEnd type="none" w="med" len="med"/>
                      <a:tailEnd type="none" w="med" len="med"/>
                    </a:lnT>
                    <a:lnB w="12700" cap="flat" cmpd="sng" algn="ctr">
                      <a:solidFill>
                        <a:srgbClr val="BFC9D9"/>
                      </a:solidFill>
                      <a:prstDash val="solid"/>
                      <a:round/>
                      <a:headEnd type="none" w="med" len="med"/>
                      <a:tailEnd type="none" w="med" len="med"/>
                    </a:lnB>
                    <a:solidFill>
                      <a:srgbClr val="F2F4F7"/>
                    </a:solidFill>
                  </a:tcPr>
                </a:tc>
                <a:tc>
                  <a:txBody>
                    <a:bodyPr/>
                    <a:lstStyle/>
                    <a:p>
                      <a:pPr algn="l" indent="0" marL="0">
                        <a:buNone/>
                      </a:pPr>
                      <a:r>
                        <a:rPr lang="en-US" sz="1700" b="1" dirty="0">
                          <a:solidFill>
                            <a:srgbClr val="1A1A1A"/>
                          </a:solidFill>
                          <a:latin typeface="Arial" pitchFamily="34" charset="0"/>
                          <a:ea typeface="Arial" pitchFamily="34" charset="-122"/>
                          <a:cs typeface="Arial" pitchFamily="34" charset="-120"/>
                        </a:rPr>
                        <a:t>17,212     — symbols change over time</a:t>
                      </a:r>
                      <a:endParaRPr lang="en-US" sz="1700" dirty="0">
                        <a:latin typeface="Arial" charset="0"/>
                        <a:ea typeface="Arial" charset="0"/>
                        <a:cs typeface="Arial" charset="0"/>
                      </a:endParaRPr>
                    </a:p>
                  </a:txBody>
                  <a:tcPr marL="73152" marR="73152" marT="73152" marB="73152" anchor="ctr">
                    <a:lnL w="12700" cap="flat" cmpd="sng" algn="ctr">
                      <a:solidFill>
                        <a:srgbClr val="BFC9D9"/>
                      </a:solidFill>
                      <a:prstDash val="solid"/>
                      <a:round/>
                      <a:headEnd type="none" w="med" len="med"/>
                      <a:tailEnd type="none" w="med" len="med"/>
                    </a:lnL>
                    <a:lnR w="12700" cap="flat" cmpd="sng" algn="ctr">
                      <a:solidFill>
                        <a:srgbClr val="BFC9D9"/>
                      </a:solidFill>
                      <a:prstDash val="solid"/>
                      <a:round/>
                      <a:headEnd type="none" w="med" len="med"/>
                      <a:tailEnd type="none" w="med" len="med"/>
                    </a:lnR>
                    <a:lnT w="12700" cap="flat" cmpd="sng" algn="ctr">
                      <a:solidFill>
                        <a:srgbClr val="BFC9D9"/>
                      </a:solidFill>
                      <a:prstDash val="solid"/>
                      <a:round/>
                      <a:headEnd type="none" w="med" len="med"/>
                      <a:tailEnd type="none" w="med" len="med"/>
                    </a:lnT>
                    <a:lnB w="12700" cap="flat" cmpd="sng" algn="ctr">
                      <a:solidFill>
                        <a:srgbClr val="BFC9D9"/>
                      </a:solidFill>
                      <a:prstDash val="solid"/>
                      <a:round/>
                      <a:headEnd type="none" w="med" len="med"/>
                      <a:tailEnd type="none" w="med" len="med"/>
                    </a:lnB>
                    <a:solidFill>
                      <a:srgbClr val="F2F4F7"/>
                    </a:solidFill>
                  </a:tcPr>
                </a:tc>
              </a:tr>
              <a:tr h="502920">
                <a:tc>
                  <a:txBody>
                    <a:bodyPr/>
                    <a:lstStyle/>
                    <a:p>
                      <a:pPr algn="l" indent="0" marL="0">
                        <a:buNone/>
                      </a:pPr>
                      <a:r>
                        <a:rPr lang="en-US" sz="1700" b="1" dirty="0">
                          <a:solidFill>
                            <a:srgbClr val="1A1A1A"/>
                          </a:solidFill>
                          <a:latin typeface="Arial" pitchFamily="34" charset="0"/>
                          <a:ea typeface="Arial" pitchFamily="34" charset="-122"/>
                          <a:cs typeface="Arial" pitchFamily="34" charset="-120"/>
                        </a:rPr>
                        <a:t>CASCADE:  Ensembl gene → symbol → alias</a:t>
                      </a:r>
                      <a:endParaRPr lang="en-US" sz="1700" dirty="0">
                        <a:latin typeface="Arial" charset="0"/>
                        <a:ea typeface="Arial" charset="0"/>
                        <a:cs typeface="Arial" charset="0"/>
                      </a:endParaRPr>
                    </a:p>
                  </a:txBody>
                  <a:tcPr marL="73152" marR="73152" marT="73152" marB="73152" anchor="ctr">
                    <a:lnL w="12700" cap="flat" cmpd="sng" algn="ctr">
                      <a:solidFill>
                        <a:srgbClr val="BFC9D9"/>
                      </a:solidFill>
                      <a:prstDash val="solid"/>
                      <a:round/>
                      <a:headEnd type="none" w="med" len="med"/>
                      <a:tailEnd type="none" w="med" len="med"/>
                    </a:lnL>
                    <a:lnR w="12700" cap="flat" cmpd="sng" algn="ctr">
                      <a:solidFill>
                        <a:srgbClr val="BFC9D9"/>
                      </a:solidFill>
                      <a:prstDash val="solid"/>
                      <a:round/>
                      <a:headEnd type="none" w="med" len="med"/>
                      <a:tailEnd type="none" w="med" len="med"/>
                    </a:lnR>
                    <a:lnT w="12700" cap="flat" cmpd="sng" algn="ctr">
                      <a:solidFill>
                        <a:srgbClr val="BFC9D9"/>
                      </a:solidFill>
                      <a:prstDash val="solid"/>
                      <a:round/>
                      <a:headEnd type="none" w="med" len="med"/>
                      <a:tailEnd type="none" w="med" len="med"/>
                    </a:lnT>
                    <a:lnB w="12700" cap="flat" cmpd="sng" algn="ctr">
                      <a:solidFill>
                        <a:srgbClr val="BFC9D9"/>
                      </a:solidFill>
                      <a:prstDash val="solid"/>
                      <a:round/>
                      <a:headEnd type="none" w="med" len="med"/>
                      <a:tailEnd type="none" w="med" len="med"/>
                    </a:lnB>
                    <a:solidFill>
                      <a:srgbClr val="FFFFFF"/>
                    </a:solidFill>
                  </a:tcPr>
                </a:tc>
                <a:tc>
                  <a:txBody>
                    <a:bodyPr/>
                    <a:lstStyle/>
                    <a:p>
                      <a:pPr algn="l" indent="0" marL="0">
                        <a:buNone/>
                      </a:pPr>
                      <a:r>
                        <a:rPr lang="en-US" sz="1700" b="1" dirty="0">
                          <a:solidFill>
                            <a:srgbClr val="1A1A1A"/>
                          </a:solidFill>
                          <a:latin typeface="Arial" pitchFamily="34" charset="0"/>
                          <a:ea typeface="Arial" pitchFamily="34" charset="-122"/>
                          <a:cs typeface="Arial" pitchFamily="34" charset="-120"/>
                        </a:rPr>
                        <a:t>18,593     =  95.5 %</a:t>
                      </a:r>
                      <a:endParaRPr lang="en-US" sz="1700" dirty="0">
                        <a:latin typeface="Arial" charset="0"/>
                        <a:ea typeface="Arial" charset="0"/>
                        <a:cs typeface="Arial" charset="0"/>
                      </a:endParaRPr>
                    </a:p>
                  </a:txBody>
                  <a:tcPr marL="73152" marR="73152" marT="73152" marB="73152" anchor="ctr">
                    <a:lnL w="12700" cap="flat" cmpd="sng" algn="ctr">
                      <a:solidFill>
                        <a:srgbClr val="BFC9D9"/>
                      </a:solidFill>
                      <a:prstDash val="solid"/>
                      <a:round/>
                      <a:headEnd type="none" w="med" len="med"/>
                      <a:tailEnd type="none" w="med" len="med"/>
                    </a:lnL>
                    <a:lnR w="12700" cap="flat" cmpd="sng" algn="ctr">
                      <a:solidFill>
                        <a:srgbClr val="BFC9D9"/>
                      </a:solidFill>
                      <a:prstDash val="solid"/>
                      <a:round/>
                      <a:headEnd type="none" w="med" len="med"/>
                      <a:tailEnd type="none" w="med" len="med"/>
                    </a:lnR>
                    <a:lnT w="12700" cap="flat" cmpd="sng" algn="ctr">
                      <a:solidFill>
                        <a:srgbClr val="BFC9D9"/>
                      </a:solidFill>
                      <a:prstDash val="solid"/>
                      <a:round/>
                      <a:headEnd type="none" w="med" len="med"/>
                      <a:tailEnd type="none" w="med" len="med"/>
                    </a:lnT>
                    <a:lnB w="12700" cap="flat" cmpd="sng" algn="ctr">
                      <a:solidFill>
                        <a:srgbClr val="BFC9D9"/>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548640" y="4297680"/>
            <a:ext cx="11064240" cy="685800"/>
          </a:xfrm>
          <a:prstGeom prst="rect">
            <a:avLst/>
          </a:prstGeom>
          <a:noFill/>
          <a:ln/>
        </p:spPr>
        <p:txBody>
          <a:bodyPr wrap="square" lIns="0" tIns="0" rIns="0" bIns="0" rtlCol="0" anchor="t"/>
          <a:lstStyle/>
          <a:p>
            <a:pPr algn="l" indent="0" marL="0">
              <a:buNone/>
            </a:pPr>
            <a:r>
              <a:rPr lang="en-US" sz="1800" dirty="0">
                <a:solidFill>
                  <a:srgbClr val="1A1A1A"/>
                </a:solidFill>
                <a:latin typeface="Arial" pitchFamily="34" charset="0"/>
                <a:ea typeface="Arial" pitchFamily="34" charset="-122"/>
                <a:cs typeface="Arial" pitchFamily="34" charset="-120"/>
              </a:rPr>
              <a:t>Why transcript-level joining fails:  MANE picks Transcript A, TargetScan picks Transcript B — the join finds nothing, though both agree the gene is TPM1.</a:t>
            </a:r>
            <a:endParaRPr lang="en-US" sz="1800" dirty="0"/>
          </a:p>
        </p:txBody>
      </p:sp>
      <p:sp>
        <p:nvSpPr>
          <p:cNvPr id="6" name="Shape 3"/>
          <p:cNvSpPr/>
          <p:nvPr/>
        </p:nvSpPr>
        <p:spPr>
          <a:xfrm>
            <a:off x="548640" y="5120640"/>
            <a:ext cx="11064240" cy="1188720"/>
          </a:xfrm>
          <a:prstGeom prst="roundRect">
            <a:avLst>
              <a:gd name="adj" fmla="val 6154"/>
            </a:avLst>
          </a:prstGeom>
          <a:solidFill>
            <a:srgbClr val="F2F4F7"/>
          </a:solidFill>
          <a:ln w="15875">
            <a:solidFill>
              <a:srgbClr val="BFC9D9"/>
            </a:solidFill>
            <a:prstDash val="solid"/>
          </a:ln>
        </p:spPr>
      </p:sp>
      <p:sp>
        <p:nvSpPr>
          <p:cNvPr id="7" name="Text 4"/>
          <p:cNvSpPr txBox="1"/>
          <p:nvPr/>
        </p:nvSpPr>
        <p:spPr>
          <a:xfrm>
            <a:off x="822960" y="5285232"/>
            <a:ext cx="10515600" cy="548640"/>
          </a:xfrm>
          <a:prstGeom prst="rect">
            <a:avLst/>
          </a:prstGeom>
          <a:noFill/>
          <a:ln/>
        </p:spPr>
        <p:txBody>
          <a:bodyPr wrap="square" lIns="0" tIns="0" rIns="0" bIns="0" rtlCol="0" anchor="t"/>
          <a:lstStyle/>
          <a:p>
            <a:pPr algn="l" indent="0" marL="0">
              <a:buNone/>
            </a:pPr>
            <a:r>
              <a:rPr lang="en-US" sz="1900" b="1" dirty="0">
                <a:solidFill>
                  <a:srgbClr val="1F3864"/>
                </a:solidFill>
                <a:latin typeface="Arial" pitchFamily="34" charset="0"/>
                <a:ea typeface="Arial" pitchFamily="34" charset="-122"/>
                <a:cs typeface="Arial" pitchFamily="34" charset="-120"/>
              </a:rPr>
              <a:t>What happens to the 881 genes (4.5 %) that still do not match?</a:t>
            </a:r>
            <a:endParaRPr lang="en-US" sz="1900" dirty="0"/>
          </a:p>
        </p:txBody>
      </p:sp>
      <p:sp>
        <p:nvSpPr>
          <p:cNvPr id="8" name="Text 5"/>
          <p:cNvSpPr txBox="1"/>
          <p:nvPr/>
        </p:nvSpPr>
        <p:spPr>
          <a:xfrm>
            <a:off x="822960" y="5669280"/>
            <a:ext cx="10515600" cy="548640"/>
          </a:xfrm>
          <a:prstGeom prst="rect">
            <a:avLst/>
          </a:prstGeom>
          <a:noFill/>
          <a:ln/>
        </p:spPr>
        <p:txBody>
          <a:bodyPr wrap="square" lIns="0" tIns="0" rIns="0" bIns="0" rtlCol="0" anchor="t"/>
          <a:lstStyle/>
          <a:p>
            <a:pPr algn="l" indent="0" marL="0">
              <a:buNone/>
            </a:pPr>
            <a:r>
              <a:rPr lang="en-US" sz="1800" dirty="0">
                <a:solidFill>
                  <a:srgbClr val="1A1A1A"/>
                </a:solidFill>
                <a:latin typeface="Arial" pitchFamily="34" charset="0"/>
                <a:ea typeface="Arial" pitchFamily="34" charset="-122"/>
                <a:cs typeface="Arial" pitchFamily="34" charset="-120"/>
              </a:rPr>
              <a:t>They have no MANE Select transcript, so no tool could scan them. Their 226,824 rows are dropped — and counted, not lost silently.</a:t>
            </a:r>
            <a:endParaRPr lang="en-US" sz="1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685800"/>
          </a:xfrm>
          <a:prstGeom prst="rect">
            <a:avLst/>
          </a:prstGeom>
          <a:noFill/>
          <a:ln/>
        </p:spPr>
        <p:txBody>
          <a:bodyPr wrap="square" lIns="0" tIns="0" rIns="0" bIns="0" rtlCol="0" anchor="ctr"/>
          <a:lstStyle/>
          <a:p>
            <a:pPr algn="l" indent="0" marL="0">
              <a:buNone/>
            </a:pPr>
            <a:r>
              <a:rPr lang="en-US" sz="3400" b="1" dirty="0">
                <a:solidFill>
                  <a:srgbClr val="1F3864"/>
                </a:solidFill>
                <a:latin typeface="Arial" pitchFamily="34" charset="0"/>
                <a:ea typeface="Arial" pitchFamily="34" charset="-122"/>
                <a:cs typeface="Arial" pitchFamily="34" charset="-120"/>
              </a:rPr>
              <a:t>The Solution: Gene-Level Integration Only</a:t>
            </a:r>
            <a:endParaRPr lang="en-US" sz="34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143000"/>
          <a:ext cx="11064240" cy="914400"/>
        </p:xfrm>
        <a:graphic>
          <a:graphicData uri="http://schemas.openxmlformats.org/drawingml/2006/table">
            <a:tbl>
              <a:tblPr/>
              <a:tblGrid>
                <a:gridCol w="5029200"/>
                <a:gridCol w="6035040"/>
              </a:tblGrid>
              <a:tr h="713232">
                <a:tc>
                  <a:txBody>
                    <a:bodyPr/>
                    <a:lstStyle/>
                    <a:p>
                      <a:pPr algn="l" indent="0" marL="0">
                        <a:buNone/>
                      </a:pPr>
                      <a:r>
                        <a:rPr lang="en-US" sz="1700" b="1" dirty="0">
                          <a:solidFill>
                            <a:srgbClr val="1F3864"/>
                          </a:solidFill>
                          <a:latin typeface="Arial" pitchFamily="34" charset="0"/>
                          <a:ea typeface="Arial" pitchFamily="34" charset="-122"/>
                          <a:cs typeface="Arial" pitchFamily="34" charset="-120"/>
                        </a:rPr>
                        <a:t>Decision</a:t>
                      </a:r>
                      <a:endParaRPr lang="en-US" sz="1700" dirty="0">
                        <a:latin typeface="Arial" charset="0"/>
                        <a:ea typeface="Arial" charset="0"/>
                        <a:cs typeface="Arial" charset="0"/>
                      </a:endParaRPr>
                    </a:p>
                  </a:txBody>
                  <a:tcPr marL="73152" marR="73152" marT="73152" marB="73152" anchor="ctr">
                    <a:lnL w="12700" cap="flat" cmpd="sng" algn="ctr">
                      <a:solidFill>
                        <a:srgbClr val="BFC9D9"/>
                      </a:solidFill>
                      <a:prstDash val="solid"/>
                      <a:round/>
                      <a:headEnd type="none" w="med" len="med"/>
                      <a:tailEnd type="none" w="med" len="med"/>
                    </a:lnL>
                    <a:lnR w="12700" cap="flat" cmpd="sng" algn="ctr">
                      <a:solidFill>
                        <a:srgbClr val="BFC9D9"/>
                      </a:solidFill>
                      <a:prstDash val="solid"/>
                      <a:round/>
                      <a:headEnd type="none" w="med" len="med"/>
                      <a:tailEnd type="none" w="med" len="med"/>
                    </a:lnR>
                    <a:lnT w="12700" cap="flat" cmpd="sng" algn="ctr">
                      <a:solidFill>
                        <a:srgbClr val="BFC9D9"/>
                      </a:solidFill>
                      <a:prstDash val="solid"/>
                      <a:round/>
                      <a:headEnd type="none" w="med" len="med"/>
                      <a:tailEnd type="none" w="med" len="med"/>
                    </a:lnT>
                    <a:lnB w="12700" cap="flat" cmpd="sng" algn="ctr">
                      <a:solidFill>
                        <a:srgbClr val="BFC9D9"/>
                      </a:solidFill>
                      <a:prstDash val="solid"/>
                      <a:round/>
                      <a:headEnd type="none" w="med" len="med"/>
                      <a:tailEnd type="none" w="med" len="med"/>
                    </a:lnB>
                    <a:solidFill>
                      <a:srgbClr val="D9E2F0"/>
                    </a:solidFill>
                  </a:tcPr>
                </a:tc>
                <a:tc>
                  <a:txBody>
                    <a:bodyPr/>
                    <a:lstStyle/>
                    <a:p>
                      <a:pPr algn="l" indent="0" marL="0">
                        <a:buNone/>
                      </a:pPr>
                      <a:r>
                        <a:rPr lang="en-US" sz="1700" b="1" dirty="0">
                          <a:solidFill>
                            <a:srgbClr val="1F3864"/>
                          </a:solidFill>
                          <a:latin typeface="Arial" pitchFamily="34" charset="0"/>
                          <a:ea typeface="Arial" pitchFamily="34" charset="-122"/>
                          <a:cs typeface="Arial" pitchFamily="34" charset="-120"/>
                        </a:rPr>
                        <a:t>Reason</a:t>
                      </a:r>
                      <a:endParaRPr lang="en-US" sz="1700" dirty="0">
                        <a:latin typeface="Arial" charset="0"/>
                        <a:ea typeface="Arial" charset="0"/>
                        <a:cs typeface="Arial" charset="0"/>
                      </a:endParaRPr>
                    </a:p>
                  </a:txBody>
                  <a:tcPr marL="73152" marR="73152" marT="73152" marB="73152" anchor="ctr">
                    <a:lnL w="12700" cap="flat" cmpd="sng" algn="ctr">
                      <a:solidFill>
                        <a:srgbClr val="BFC9D9"/>
                      </a:solidFill>
                      <a:prstDash val="solid"/>
                      <a:round/>
                      <a:headEnd type="none" w="med" len="med"/>
                      <a:tailEnd type="none" w="med" len="med"/>
                    </a:lnL>
                    <a:lnR w="12700" cap="flat" cmpd="sng" algn="ctr">
                      <a:solidFill>
                        <a:srgbClr val="BFC9D9"/>
                      </a:solidFill>
                      <a:prstDash val="solid"/>
                      <a:round/>
                      <a:headEnd type="none" w="med" len="med"/>
                      <a:tailEnd type="none" w="med" len="med"/>
                    </a:lnR>
                    <a:lnT w="12700" cap="flat" cmpd="sng" algn="ctr">
                      <a:solidFill>
                        <a:srgbClr val="BFC9D9"/>
                      </a:solidFill>
                      <a:prstDash val="solid"/>
                      <a:round/>
                      <a:headEnd type="none" w="med" len="med"/>
                      <a:tailEnd type="none" w="med" len="med"/>
                    </a:lnT>
                    <a:lnB w="12700" cap="flat" cmpd="sng" algn="ctr">
                      <a:solidFill>
                        <a:srgbClr val="BFC9D9"/>
                      </a:solidFill>
                      <a:prstDash val="solid"/>
                      <a:round/>
                      <a:headEnd type="none" w="med" len="med"/>
                      <a:tailEnd type="none" w="med" len="med"/>
                    </a:lnB>
                    <a:solidFill>
                      <a:srgbClr val="D9E2F0"/>
                    </a:solidFill>
                  </a:tcPr>
                </a:tc>
              </a:tr>
              <a:tr h="713232">
                <a:tc>
                  <a:txBody>
                    <a:bodyPr/>
                    <a:lstStyle/>
                    <a:p>
                      <a:pPr algn="l" indent="0" marL="0">
                        <a:buNone/>
                      </a:pPr>
                      <a:r>
                        <a:rPr lang="en-US" sz="1700" b="1" dirty="0">
                          <a:solidFill>
                            <a:srgbClr val="1A1A1A"/>
                          </a:solidFill>
                          <a:latin typeface="Arial" pitchFamily="34" charset="0"/>
                          <a:ea typeface="Arial" pitchFamily="34" charset="-122"/>
                          <a:cs typeface="Arial" pitchFamily="34" charset="-120"/>
                        </a:rPr>
                        <a:t>Joined at GENE level, never transcript level</a:t>
                      </a:r>
                      <a:endParaRPr lang="en-US" sz="1700" dirty="0">
                        <a:latin typeface="Arial" charset="0"/>
                        <a:ea typeface="Arial" charset="0"/>
                        <a:cs typeface="Arial" charset="0"/>
                      </a:endParaRPr>
                    </a:p>
                  </a:txBody>
                  <a:tcPr marL="73152" marR="73152" marT="73152" marB="73152" anchor="ctr">
                    <a:lnL w="12700" cap="flat" cmpd="sng" algn="ctr">
                      <a:solidFill>
                        <a:srgbClr val="BFC9D9"/>
                      </a:solidFill>
                      <a:prstDash val="solid"/>
                      <a:round/>
                      <a:headEnd type="none" w="med" len="med"/>
                      <a:tailEnd type="none" w="med" len="med"/>
                    </a:lnL>
                    <a:lnR w="12700" cap="flat" cmpd="sng" algn="ctr">
                      <a:solidFill>
                        <a:srgbClr val="BFC9D9"/>
                      </a:solidFill>
                      <a:prstDash val="solid"/>
                      <a:round/>
                      <a:headEnd type="none" w="med" len="med"/>
                      <a:tailEnd type="none" w="med" len="med"/>
                    </a:lnR>
                    <a:lnT w="12700" cap="flat" cmpd="sng" algn="ctr">
                      <a:solidFill>
                        <a:srgbClr val="BFC9D9"/>
                      </a:solidFill>
                      <a:prstDash val="solid"/>
                      <a:round/>
                      <a:headEnd type="none" w="med" len="med"/>
                      <a:tailEnd type="none" w="med" len="med"/>
                    </a:lnT>
                    <a:lnB w="12700" cap="flat" cmpd="sng" algn="ctr">
                      <a:solidFill>
                        <a:srgbClr val="BFC9D9"/>
                      </a:solidFill>
                      <a:prstDash val="solid"/>
                      <a:round/>
                      <a:headEnd type="none" w="med" len="med"/>
                      <a:tailEnd type="none" w="med" len="med"/>
                    </a:lnB>
                    <a:solidFill>
                      <a:srgbClr val="F2F4F7"/>
                    </a:solidFill>
                  </a:tcPr>
                </a:tc>
                <a:tc>
                  <a:txBody>
                    <a:bodyPr/>
                    <a:lstStyle/>
                    <a:p>
                      <a:pPr algn="l" indent="0" marL="0">
                        <a:buNone/>
                      </a:pPr>
                      <a:r>
                        <a:rPr lang="en-US" sz="1700" dirty="0">
                          <a:solidFill>
                            <a:srgbClr val="1A1A1A"/>
                          </a:solidFill>
                          <a:latin typeface="Arial" pitchFamily="34" charset="0"/>
                          <a:ea typeface="Arial" pitchFamily="34" charset="-122"/>
                          <a:cs typeface="Arial" pitchFamily="34" charset="-120"/>
                        </a:rPr>
                        <a:t>Its transcript differs for 38.7 % of genes</a:t>
                      </a:r>
                      <a:endParaRPr lang="en-US" sz="1700" dirty="0">
                        <a:latin typeface="Arial" charset="0"/>
                        <a:ea typeface="Arial" charset="0"/>
                        <a:cs typeface="Arial" charset="0"/>
                      </a:endParaRPr>
                    </a:p>
                  </a:txBody>
                  <a:tcPr marL="73152" marR="73152" marT="73152" marB="73152" anchor="ctr">
                    <a:lnL w="12700" cap="flat" cmpd="sng" algn="ctr">
                      <a:solidFill>
                        <a:srgbClr val="BFC9D9"/>
                      </a:solidFill>
                      <a:prstDash val="solid"/>
                      <a:round/>
                      <a:headEnd type="none" w="med" len="med"/>
                      <a:tailEnd type="none" w="med" len="med"/>
                    </a:lnL>
                    <a:lnR w="12700" cap="flat" cmpd="sng" algn="ctr">
                      <a:solidFill>
                        <a:srgbClr val="BFC9D9"/>
                      </a:solidFill>
                      <a:prstDash val="solid"/>
                      <a:round/>
                      <a:headEnd type="none" w="med" len="med"/>
                      <a:tailEnd type="none" w="med" len="med"/>
                    </a:lnR>
                    <a:lnT w="12700" cap="flat" cmpd="sng" algn="ctr">
                      <a:solidFill>
                        <a:srgbClr val="BFC9D9"/>
                      </a:solidFill>
                      <a:prstDash val="solid"/>
                      <a:round/>
                      <a:headEnd type="none" w="med" len="med"/>
                      <a:tailEnd type="none" w="med" len="med"/>
                    </a:lnT>
                    <a:lnB w="12700" cap="flat" cmpd="sng" algn="ctr">
                      <a:solidFill>
                        <a:srgbClr val="BFC9D9"/>
                      </a:solidFill>
                      <a:prstDash val="solid"/>
                      <a:round/>
                      <a:headEnd type="none" w="med" len="med"/>
                      <a:tailEnd type="none" w="med" len="med"/>
                    </a:lnB>
                    <a:solidFill>
                      <a:srgbClr val="F2F4F7"/>
                    </a:solidFill>
                  </a:tcPr>
                </a:tc>
              </a:tr>
              <a:tr h="713232">
                <a:tc>
                  <a:txBody>
                    <a:bodyPr/>
                    <a:lstStyle/>
                    <a:p>
                      <a:pPr algn="l" indent="0" marL="0">
                        <a:buNone/>
                      </a:pPr>
                      <a:r>
                        <a:rPr lang="en-US" sz="1700" b="1" dirty="0">
                          <a:solidFill>
                            <a:srgbClr val="1A1A1A"/>
                          </a:solidFill>
                          <a:latin typeface="Arial" pitchFamily="34" charset="0"/>
                          <a:ea typeface="Arial" pitchFamily="34" charset="-122"/>
                          <a:cs typeface="Arial" pitchFamily="34" charset="-120"/>
                        </a:rPr>
                        <a:t>NO TargetScan position is ever displayed</a:t>
                      </a:r>
                      <a:endParaRPr lang="en-US" sz="1700" dirty="0">
                        <a:latin typeface="Arial" charset="0"/>
                        <a:ea typeface="Arial" charset="0"/>
                        <a:cs typeface="Arial" charset="0"/>
                      </a:endParaRPr>
                    </a:p>
                  </a:txBody>
                  <a:tcPr marL="73152" marR="73152" marT="73152" marB="73152" anchor="ctr">
                    <a:lnL w="12700" cap="flat" cmpd="sng" algn="ctr">
                      <a:solidFill>
                        <a:srgbClr val="BFC9D9"/>
                      </a:solidFill>
                      <a:prstDash val="solid"/>
                      <a:round/>
                      <a:headEnd type="none" w="med" len="med"/>
                      <a:tailEnd type="none" w="med" len="med"/>
                    </a:lnL>
                    <a:lnR w="12700" cap="flat" cmpd="sng" algn="ctr">
                      <a:solidFill>
                        <a:srgbClr val="BFC9D9"/>
                      </a:solidFill>
                      <a:prstDash val="solid"/>
                      <a:round/>
                      <a:headEnd type="none" w="med" len="med"/>
                      <a:tailEnd type="none" w="med" len="med"/>
                    </a:lnR>
                    <a:lnT w="12700" cap="flat" cmpd="sng" algn="ctr">
                      <a:solidFill>
                        <a:srgbClr val="BFC9D9"/>
                      </a:solidFill>
                      <a:prstDash val="solid"/>
                      <a:round/>
                      <a:headEnd type="none" w="med" len="med"/>
                      <a:tailEnd type="none" w="med" len="med"/>
                    </a:lnT>
                    <a:lnB w="12700" cap="flat" cmpd="sng" algn="ctr">
                      <a:solidFill>
                        <a:srgbClr val="BFC9D9"/>
                      </a:solidFill>
                      <a:prstDash val="solid"/>
                      <a:round/>
                      <a:headEnd type="none" w="med" len="med"/>
                      <a:tailEnd type="none" w="med" len="med"/>
                    </a:lnB>
                    <a:solidFill>
                      <a:srgbClr val="FFFFFF"/>
                    </a:solidFill>
                  </a:tcPr>
                </a:tc>
                <a:tc>
                  <a:txBody>
                    <a:bodyPr/>
                    <a:lstStyle/>
                    <a:p>
                      <a:pPr algn="l" indent="0" marL="0">
                        <a:buNone/>
                      </a:pPr>
                      <a:r>
                        <a:rPr lang="en-US" sz="1700" dirty="0">
                          <a:solidFill>
                            <a:srgbClr val="1A1A1A"/>
                          </a:solidFill>
                          <a:latin typeface="Arial" pitchFamily="34" charset="0"/>
                          <a:ea typeface="Arial" pitchFamily="34" charset="-122"/>
                          <a:cs typeface="Arial" pitchFamily="34" charset="-120"/>
                        </a:rPr>
                        <a:t>The user sees MANE coordinates; a TargetScan position would refer to a different sequence</a:t>
                      </a:r>
                      <a:endParaRPr lang="en-US" sz="1700" dirty="0">
                        <a:latin typeface="Arial" charset="0"/>
                        <a:ea typeface="Arial" charset="0"/>
                        <a:cs typeface="Arial" charset="0"/>
                      </a:endParaRPr>
                    </a:p>
                  </a:txBody>
                  <a:tcPr marL="73152" marR="73152" marT="73152" marB="73152" anchor="ctr">
                    <a:lnL w="12700" cap="flat" cmpd="sng" algn="ctr">
                      <a:solidFill>
                        <a:srgbClr val="BFC9D9"/>
                      </a:solidFill>
                      <a:prstDash val="solid"/>
                      <a:round/>
                      <a:headEnd type="none" w="med" len="med"/>
                      <a:tailEnd type="none" w="med" len="med"/>
                    </a:lnL>
                    <a:lnR w="12700" cap="flat" cmpd="sng" algn="ctr">
                      <a:solidFill>
                        <a:srgbClr val="BFC9D9"/>
                      </a:solidFill>
                      <a:prstDash val="solid"/>
                      <a:round/>
                      <a:headEnd type="none" w="med" len="med"/>
                      <a:tailEnd type="none" w="med" len="med"/>
                    </a:lnR>
                    <a:lnT w="12700" cap="flat" cmpd="sng" algn="ctr">
                      <a:solidFill>
                        <a:srgbClr val="BFC9D9"/>
                      </a:solidFill>
                      <a:prstDash val="solid"/>
                      <a:round/>
                      <a:headEnd type="none" w="med" len="med"/>
                      <a:tailEnd type="none" w="med" len="med"/>
                    </a:lnT>
                    <a:lnB w="12700" cap="flat" cmpd="sng" algn="ctr">
                      <a:solidFill>
                        <a:srgbClr val="BFC9D9"/>
                      </a:solidFill>
                      <a:prstDash val="solid"/>
                      <a:round/>
                      <a:headEnd type="none" w="med" len="med"/>
                      <a:tailEnd type="none" w="med" len="med"/>
                    </a:lnB>
                    <a:solidFill>
                      <a:srgbClr val="FFFFFF"/>
                    </a:solidFill>
                  </a:tcPr>
                </a:tc>
              </a:tr>
              <a:tr h="713232">
                <a:tc>
                  <a:txBody>
                    <a:bodyPr/>
                    <a:lstStyle/>
                    <a:p>
                      <a:pPr algn="l" indent="0" marL="0">
                        <a:buNone/>
                      </a:pPr>
                      <a:r>
                        <a:rPr lang="en-US" sz="1700" b="1" dirty="0">
                          <a:solidFill>
                            <a:srgbClr val="1A1A1A"/>
                          </a:solidFill>
                          <a:latin typeface="Arial" pitchFamily="34" charset="0"/>
                          <a:ea typeface="Arial" pitchFamily="34" charset="-122"/>
                          <a:cs typeface="Arial" pitchFamily="34" charset="-120"/>
                        </a:rPr>
                        <a:t>hg19 coordinate files are never loaded</a:t>
                      </a:r>
                      <a:endParaRPr lang="en-US" sz="1700" dirty="0">
                        <a:latin typeface="Arial" charset="0"/>
                        <a:ea typeface="Arial" charset="0"/>
                        <a:cs typeface="Arial" charset="0"/>
                      </a:endParaRPr>
                    </a:p>
                  </a:txBody>
                  <a:tcPr marL="73152" marR="73152" marT="73152" marB="73152" anchor="ctr">
                    <a:lnL w="12700" cap="flat" cmpd="sng" algn="ctr">
                      <a:solidFill>
                        <a:srgbClr val="BFC9D9"/>
                      </a:solidFill>
                      <a:prstDash val="solid"/>
                      <a:round/>
                      <a:headEnd type="none" w="med" len="med"/>
                      <a:tailEnd type="none" w="med" len="med"/>
                    </a:lnL>
                    <a:lnR w="12700" cap="flat" cmpd="sng" algn="ctr">
                      <a:solidFill>
                        <a:srgbClr val="BFC9D9"/>
                      </a:solidFill>
                      <a:prstDash val="solid"/>
                      <a:round/>
                      <a:headEnd type="none" w="med" len="med"/>
                      <a:tailEnd type="none" w="med" len="med"/>
                    </a:lnR>
                    <a:lnT w="12700" cap="flat" cmpd="sng" algn="ctr">
                      <a:solidFill>
                        <a:srgbClr val="BFC9D9"/>
                      </a:solidFill>
                      <a:prstDash val="solid"/>
                      <a:round/>
                      <a:headEnd type="none" w="med" len="med"/>
                      <a:tailEnd type="none" w="med" len="med"/>
                    </a:lnT>
                    <a:lnB w="12700" cap="flat" cmpd="sng" algn="ctr">
                      <a:solidFill>
                        <a:srgbClr val="BFC9D9"/>
                      </a:solidFill>
                      <a:prstDash val="solid"/>
                      <a:round/>
                      <a:headEnd type="none" w="med" len="med"/>
                      <a:tailEnd type="none" w="med" len="med"/>
                    </a:lnB>
                    <a:solidFill>
                      <a:srgbClr val="F2F4F7"/>
                    </a:solidFill>
                  </a:tcPr>
                </a:tc>
                <a:tc>
                  <a:txBody>
                    <a:bodyPr/>
                    <a:lstStyle/>
                    <a:p>
                      <a:pPr algn="l" indent="0" marL="0">
                        <a:buNone/>
                      </a:pPr>
                      <a:r>
                        <a:rPr lang="en-US" sz="1700" dirty="0">
                          <a:solidFill>
                            <a:srgbClr val="1A1A1A"/>
                          </a:solidFill>
                          <a:latin typeface="Arial" pitchFamily="34" charset="0"/>
                          <a:ea typeface="Arial" pitchFamily="34" charset="-122"/>
                          <a:cs typeface="Arial" pitchFamily="34" charset="-120"/>
                        </a:rPr>
                        <a:t>Avoids introducing a third reference system</a:t>
                      </a:r>
                      <a:endParaRPr lang="en-US" sz="1700" dirty="0">
                        <a:latin typeface="Arial" charset="0"/>
                        <a:ea typeface="Arial" charset="0"/>
                        <a:cs typeface="Arial" charset="0"/>
                      </a:endParaRPr>
                    </a:p>
                  </a:txBody>
                  <a:tcPr marL="73152" marR="73152" marT="73152" marB="73152" anchor="ctr">
                    <a:lnL w="12700" cap="flat" cmpd="sng" algn="ctr">
                      <a:solidFill>
                        <a:srgbClr val="BFC9D9"/>
                      </a:solidFill>
                      <a:prstDash val="solid"/>
                      <a:round/>
                      <a:headEnd type="none" w="med" len="med"/>
                      <a:tailEnd type="none" w="med" len="med"/>
                    </a:lnL>
                    <a:lnR w="12700" cap="flat" cmpd="sng" algn="ctr">
                      <a:solidFill>
                        <a:srgbClr val="BFC9D9"/>
                      </a:solidFill>
                      <a:prstDash val="solid"/>
                      <a:round/>
                      <a:headEnd type="none" w="med" len="med"/>
                      <a:tailEnd type="none" w="med" len="med"/>
                    </a:lnR>
                    <a:lnT w="12700" cap="flat" cmpd="sng" algn="ctr">
                      <a:solidFill>
                        <a:srgbClr val="BFC9D9"/>
                      </a:solidFill>
                      <a:prstDash val="solid"/>
                      <a:round/>
                      <a:headEnd type="none" w="med" len="med"/>
                      <a:tailEnd type="none" w="med" len="med"/>
                    </a:lnT>
                    <a:lnB w="12700" cap="flat" cmpd="sng" algn="ctr">
                      <a:solidFill>
                        <a:srgbClr val="BFC9D9"/>
                      </a:solidFill>
                      <a:prstDash val="solid"/>
                      <a:round/>
                      <a:headEnd type="none" w="med" len="med"/>
                      <a:tailEnd type="none" w="med" len="med"/>
                    </a:lnB>
                    <a:solidFill>
                      <a:srgbClr val="F2F4F7"/>
                    </a:solidFill>
                  </a:tcPr>
                </a:tc>
              </a:tr>
              <a:tr h="713232">
                <a:tc>
                  <a:txBody>
                    <a:bodyPr/>
                    <a:lstStyle/>
                    <a:p>
                      <a:pPr algn="l" indent="0" marL="0">
                        <a:buNone/>
                      </a:pPr>
                      <a:r>
                        <a:rPr lang="en-US" sz="1700" b="1" dirty="0">
                          <a:solidFill>
                            <a:srgbClr val="1A1A1A"/>
                          </a:solidFill>
                          <a:latin typeface="Arial" pitchFamily="34" charset="0"/>
                          <a:ea typeface="Arial" pitchFamily="34" charset="-122"/>
                          <a:cs typeface="Arial" pitchFamily="34" charset="-120"/>
                        </a:rPr>
                        <a:t>is_mane flag stored per gene, and carried in every result row</a:t>
                      </a:r>
                      <a:endParaRPr lang="en-US" sz="1700" dirty="0">
                        <a:latin typeface="Arial" charset="0"/>
                        <a:ea typeface="Arial" charset="0"/>
                        <a:cs typeface="Arial" charset="0"/>
                      </a:endParaRPr>
                    </a:p>
                  </a:txBody>
                  <a:tcPr marL="73152" marR="73152" marT="73152" marB="73152" anchor="ctr">
                    <a:lnL w="12700" cap="flat" cmpd="sng" algn="ctr">
                      <a:solidFill>
                        <a:srgbClr val="BFC9D9"/>
                      </a:solidFill>
                      <a:prstDash val="solid"/>
                      <a:round/>
                      <a:headEnd type="none" w="med" len="med"/>
                      <a:tailEnd type="none" w="med" len="med"/>
                    </a:lnL>
                    <a:lnR w="12700" cap="flat" cmpd="sng" algn="ctr">
                      <a:solidFill>
                        <a:srgbClr val="BFC9D9"/>
                      </a:solidFill>
                      <a:prstDash val="solid"/>
                      <a:round/>
                      <a:headEnd type="none" w="med" len="med"/>
                      <a:tailEnd type="none" w="med" len="med"/>
                    </a:lnR>
                    <a:lnT w="12700" cap="flat" cmpd="sng" algn="ctr">
                      <a:solidFill>
                        <a:srgbClr val="BFC9D9"/>
                      </a:solidFill>
                      <a:prstDash val="solid"/>
                      <a:round/>
                      <a:headEnd type="none" w="med" len="med"/>
                      <a:tailEnd type="none" w="med" len="med"/>
                    </a:lnT>
                    <a:lnB w="12700" cap="flat" cmpd="sng" algn="ctr">
                      <a:solidFill>
                        <a:srgbClr val="BFC9D9"/>
                      </a:solidFill>
                      <a:prstDash val="solid"/>
                      <a:round/>
                      <a:headEnd type="none" w="med" len="med"/>
                      <a:tailEnd type="none" w="med" len="med"/>
                    </a:lnB>
                    <a:solidFill>
                      <a:srgbClr val="FFFFFF"/>
                    </a:solidFill>
                  </a:tcPr>
                </a:tc>
                <a:tc>
                  <a:txBody>
                    <a:bodyPr/>
                    <a:lstStyle/>
                    <a:p>
                      <a:pPr algn="l" indent="0" marL="0">
                        <a:buNone/>
                      </a:pPr>
                      <a:r>
                        <a:rPr lang="en-US" sz="1700" dirty="0">
                          <a:solidFill>
                            <a:srgbClr val="1A1A1A"/>
                          </a:solidFill>
                          <a:latin typeface="Arial" pitchFamily="34" charset="0"/>
                          <a:ea typeface="Arial" pitchFamily="34" charset="-122"/>
                          <a:cs typeface="Arial" pitchFamily="34" charset="-120"/>
                        </a:rPr>
                        <a:t>The disagreement is recorded, not hidden</a:t>
                      </a:r>
                      <a:endParaRPr lang="en-US" sz="1700" dirty="0">
                        <a:latin typeface="Arial" charset="0"/>
                        <a:ea typeface="Arial" charset="0"/>
                        <a:cs typeface="Arial" charset="0"/>
                      </a:endParaRPr>
                    </a:p>
                  </a:txBody>
                  <a:tcPr marL="73152" marR="73152" marT="73152" marB="73152" anchor="ctr">
                    <a:lnL w="12700" cap="flat" cmpd="sng" algn="ctr">
                      <a:solidFill>
                        <a:srgbClr val="BFC9D9"/>
                      </a:solidFill>
                      <a:prstDash val="solid"/>
                      <a:round/>
                      <a:headEnd type="none" w="med" len="med"/>
                      <a:tailEnd type="none" w="med" len="med"/>
                    </a:lnL>
                    <a:lnR w="12700" cap="flat" cmpd="sng" algn="ctr">
                      <a:solidFill>
                        <a:srgbClr val="BFC9D9"/>
                      </a:solidFill>
                      <a:prstDash val="solid"/>
                      <a:round/>
                      <a:headEnd type="none" w="med" len="med"/>
                      <a:tailEnd type="none" w="med" len="med"/>
                    </a:lnR>
                    <a:lnT w="12700" cap="flat" cmpd="sng" algn="ctr">
                      <a:solidFill>
                        <a:srgbClr val="BFC9D9"/>
                      </a:solidFill>
                      <a:prstDash val="solid"/>
                      <a:round/>
                      <a:headEnd type="none" w="med" len="med"/>
                      <a:tailEnd type="none" w="med" len="med"/>
                    </a:lnT>
                    <a:lnB w="12700" cap="flat" cmpd="sng" algn="ctr">
                      <a:solidFill>
                        <a:srgbClr val="BFC9D9"/>
                      </a:solidFill>
                      <a:prstDash val="solid"/>
                      <a:round/>
                      <a:headEnd type="none" w="med" len="med"/>
                      <a:tailEnd type="none" w="med" len="med"/>
                    </a:lnB>
                    <a:solidFill>
                      <a:srgbClr val="FFFFFF"/>
                    </a:solidFill>
                  </a:tcPr>
                </a:tc>
              </a:tr>
            </a:tbl>
          </a:graphicData>
        </a:graphic>
      </p:graphicFrame>
      <p:sp>
        <p:nvSpPr>
          <p:cNvPr id="4" name="Shape 1"/>
          <p:cNvSpPr/>
          <p:nvPr/>
        </p:nvSpPr>
        <p:spPr>
          <a:xfrm>
            <a:off x="548640" y="4800600"/>
            <a:ext cx="11064240" cy="1325880"/>
          </a:xfrm>
          <a:prstGeom prst="roundRect">
            <a:avLst>
              <a:gd name="adj" fmla="val 5517"/>
            </a:avLst>
          </a:prstGeom>
          <a:solidFill>
            <a:srgbClr val="E8F1EA"/>
          </a:solidFill>
          <a:ln w="15875">
            <a:solidFill>
              <a:srgbClr val="8FB89C"/>
            </a:solidFill>
            <a:prstDash val="solid"/>
          </a:ln>
        </p:spPr>
      </p:sp>
      <p:sp>
        <p:nvSpPr>
          <p:cNvPr id="5" name="Text 2"/>
          <p:cNvSpPr txBox="1"/>
          <p:nvPr/>
        </p:nvSpPr>
        <p:spPr>
          <a:xfrm>
            <a:off x="822960" y="4983480"/>
            <a:ext cx="10515600" cy="548640"/>
          </a:xfrm>
          <a:prstGeom prst="rect">
            <a:avLst/>
          </a:prstGeom>
          <a:noFill/>
          <a:ln/>
        </p:spPr>
        <p:txBody>
          <a:bodyPr wrap="square" lIns="0" tIns="0" rIns="0" bIns="0" rtlCol="0" anchor="t"/>
          <a:lstStyle/>
          <a:p>
            <a:pPr algn="l" indent="0" marL="0">
              <a:buNone/>
            </a:pPr>
            <a:r>
              <a:rPr lang="en-US" sz="1800" b="1" dirty="0">
                <a:solidFill>
                  <a:srgbClr val="1A6B3C"/>
                </a:solidFill>
                <a:latin typeface="Arial" pitchFamily="34" charset="0"/>
                <a:ea typeface="Arial" pitchFamily="34" charset="-122"/>
                <a:cs typeface="Arial" pitchFamily="34" charset="-120"/>
              </a:rPr>
              <a:t>The principle</a:t>
            </a:r>
            <a:endParaRPr lang="en-US" sz="1800" dirty="0"/>
          </a:p>
        </p:txBody>
      </p:sp>
      <p:sp>
        <p:nvSpPr>
          <p:cNvPr id="6" name="Text 3"/>
          <p:cNvSpPr txBox="1"/>
          <p:nvPr/>
        </p:nvSpPr>
        <p:spPr>
          <a:xfrm>
            <a:off x="822960" y="5349240"/>
            <a:ext cx="10515600" cy="640080"/>
          </a:xfrm>
          <a:prstGeom prst="rect">
            <a:avLst/>
          </a:prstGeom>
          <a:noFill/>
          <a:ln/>
        </p:spPr>
        <p:txBody>
          <a:bodyPr wrap="square" lIns="0" tIns="0" rIns="0" bIns="0" rtlCol="0" anchor="t"/>
          <a:lstStyle/>
          <a:p>
            <a:pPr algn="l" indent="0" marL="0">
              <a:buNone/>
            </a:pPr>
            <a:r>
              <a:rPr lang="en-US" sz="1900" b="1" dirty="0">
                <a:solidFill>
                  <a:srgbClr val="1A1A1A"/>
                </a:solidFill>
                <a:latin typeface="Arial" pitchFamily="34" charset="0"/>
                <a:ea typeface="Arial" pitchFamily="34" charset="-122"/>
                <a:cs typeface="Arial" pitchFamily="34" charset="-120"/>
              </a:rPr>
              <a:t>Never present a coordinate as if it belongs to a reference sequence when it actually belongs to another.</a:t>
            </a:r>
            <a:endParaRPr lang="en-US" sz="1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685800"/>
          </a:xfrm>
          <a:prstGeom prst="rect">
            <a:avLst/>
          </a:prstGeom>
          <a:noFill/>
          <a:ln/>
        </p:spPr>
        <p:txBody>
          <a:bodyPr wrap="square" lIns="0" tIns="0" rIns="0" bIns="0" rtlCol="0" anchor="ctr"/>
          <a:lstStyle/>
          <a:p>
            <a:pPr algn="l" indent="0" marL="0">
              <a:buNone/>
            </a:pPr>
            <a:r>
              <a:rPr lang="en-US" sz="3400" b="1" dirty="0">
                <a:solidFill>
                  <a:srgbClr val="1F3864"/>
                </a:solidFill>
                <a:latin typeface="Arial" pitchFamily="34" charset="0"/>
                <a:ea typeface="Arial" pitchFamily="34" charset="-122"/>
                <a:cs typeface="Arial" pitchFamily="34" charset="-120"/>
              </a:rPr>
              <a:t>Proof It Matters: The TPM1 Case</a:t>
            </a:r>
            <a:endParaRPr lang="en-US" sz="3400" dirty="0"/>
          </a:p>
        </p:txBody>
      </p:sp>
      <p:sp>
        <p:nvSpPr>
          <p:cNvPr id="3" name="Text 1"/>
          <p:cNvSpPr txBox="1"/>
          <p:nvPr/>
        </p:nvSpPr>
        <p:spPr>
          <a:xfrm>
            <a:off x="548640" y="1078992"/>
            <a:ext cx="11064240" cy="548640"/>
          </a:xfrm>
          <a:prstGeom prst="rect">
            <a:avLst/>
          </a:prstGeom>
          <a:noFill/>
          <a:ln/>
        </p:spPr>
        <p:txBody>
          <a:bodyPr wrap="square" lIns="0" tIns="0" rIns="0" bIns="0" rtlCol="0" anchor="t"/>
          <a:lstStyle/>
          <a:p>
            <a:pPr algn="l" indent="0" marL="0">
              <a:buNone/>
            </a:pPr>
            <a:r>
              <a:rPr lang="en-US" sz="1800" dirty="0">
                <a:solidFill>
                  <a:srgbClr val="595959"/>
                </a:solidFill>
                <a:latin typeface="Arial" pitchFamily="34" charset="0"/>
                <a:ea typeface="Arial" pitchFamily="34" charset="-122"/>
                <a:cs typeface="Arial" pitchFamily="34" charset="-120"/>
              </a:rPr>
              <a:t>TPM1 is a published miR-21 target (Zhu et al., 2007). TargetScan returned nothing for it.</a:t>
            </a:r>
            <a:endParaRPr lang="en-US" sz="18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11064240" cy="914400"/>
        </p:xfrm>
        <a:graphic>
          <a:graphicData uri="http://schemas.openxmlformats.org/drawingml/2006/table">
            <a:tbl>
              <a:tblPr/>
              <a:tblGrid>
                <a:gridCol w="2834640"/>
                <a:gridCol w="8229600"/>
              </a:tblGrid>
              <a:tr h="548640">
                <a:tc>
                  <a:txBody>
                    <a:bodyPr/>
                    <a:lstStyle/>
                    <a:p>
                      <a:pPr algn="l" indent="0" marL="0">
                        <a:buNone/>
                      </a:pPr>
                      <a:r>
                        <a:rPr lang="en-US" sz="1700" b="1" dirty="0">
                          <a:solidFill>
                            <a:srgbClr val="1F3864"/>
                          </a:solidFill>
                          <a:latin typeface="Arial" pitchFamily="34" charset="0"/>
                          <a:ea typeface="Arial" pitchFamily="34" charset="-122"/>
                          <a:cs typeface="Arial" pitchFamily="34" charset="-120"/>
                        </a:rPr>
                        <a:t>Step</a:t>
                      </a:r>
                      <a:endParaRPr lang="en-US" sz="1700" dirty="0">
                        <a:latin typeface="Arial" charset="0"/>
                        <a:ea typeface="Arial" charset="0"/>
                        <a:cs typeface="Arial" charset="0"/>
                      </a:endParaRPr>
                    </a:p>
                  </a:txBody>
                  <a:tcPr marL="73152" marR="73152" marT="73152" marB="73152" anchor="ctr">
                    <a:lnL w="12700" cap="flat" cmpd="sng" algn="ctr">
                      <a:solidFill>
                        <a:srgbClr val="BFC9D9"/>
                      </a:solidFill>
                      <a:prstDash val="solid"/>
                      <a:round/>
                      <a:headEnd type="none" w="med" len="med"/>
                      <a:tailEnd type="none" w="med" len="med"/>
                    </a:lnL>
                    <a:lnR w="12700" cap="flat" cmpd="sng" algn="ctr">
                      <a:solidFill>
                        <a:srgbClr val="BFC9D9"/>
                      </a:solidFill>
                      <a:prstDash val="solid"/>
                      <a:round/>
                      <a:headEnd type="none" w="med" len="med"/>
                      <a:tailEnd type="none" w="med" len="med"/>
                    </a:lnR>
                    <a:lnT w="12700" cap="flat" cmpd="sng" algn="ctr">
                      <a:solidFill>
                        <a:srgbClr val="BFC9D9"/>
                      </a:solidFill>
                      <a:prstDash val="solid"/>
                      <a:round/>
                      <a:headEnd type="none" w="med" len="med"/>
                      <a:tailEnd type="none" w="med" len="med"/>
                    </a:lnT>
                    <a:lnB w="12700" cap="flat" cmpd="sng" algn="ctr">
                      <a:solidFill>
                        <a:srgbClr val="BFC9D9"/>
                      </a:solidFill>
                      <a:prstDash val="solid"/>
                      <a:round/>
                      <a:headEnd type="none" w="med" len="med"/>
                      <a:tailEnd type="none" w="med" len="med"/>
                    </a:lnB>
                    <a:solidFill>
                      <a:srgbClr val="D9E2F0"/>
                    </a:solidFill>
                  </a:tcPr>
                </a:tc>
                <a:tc>
                  <a:txBody>
                    <a:bodyPr/>
                    <a:lstStyle/>
                    <a:p>
                      <a:pPr algn="l" indent="0" marL="0">
                        <a:buNone/>
                      </a:pPr>
                      <a:r>
                        <a:rPr lang="en-US" sz="1700" b="1" dirty="0">
                          <a:solidFill>
                            <a:srgbClr val="1F3864"/>
                          </a:solidFill>
                          <a:latin typeface="Arial" pitchFamily="34" charset="0"/>
                          <a:ea typeface="Arial" pitchFamily="34" charset="-122"/>
                          <a:cs typeface="Arial" pitchFamily="34" charset="-120"/>
                        </a:rPr>
                        <a:t>Finding</a:t>
                      </a:r>
                      <a:endParaRPr lang="en-US" sz="1700" dirty="0">
                        <a:latin typeface="Arial" charset="0"/>
                        <a:ea typeface="Arial" charset="0"/>
                        <a:cs typeface="Arial" charset="0"/>
                      </a:endParaRPr>
                    </a:p>
                  </a:txBody>
                  <a:tcPr marL="73152" marR="73152" marT="73152" marB="73152" anchor="ctr">
                    <a:lnL w="12700" cap="flat" cmpd="sng" algn="ctr">
                      <a:solidFill>
                        <a:srgbClr val="BFC9D9"/>
                      </a:solidFill>
                      <a:prstDash val="solid"/>
                      <a:round/>
                      <a:headEnd type="none" w="med" len="med"/>
                      <a:tailEnd type="none" w="med" len="med"/>
                    </a:lnL>
                    <a:lnR w="12700" cap="flat" cmpd="sng" algn="ctr">
                      <a:solidFill>
                        <a:srgbClr val="BFC9D9"/>
                      </a:solidFill>
                      <a:prstDash val="solid"/>
                      <a:round/>
                      <a:headEnd type="none" w="med" len="med"/>
                      <a:tailEnd type="none" w="med" len="med"/>
                    </a:lnR>
                    <a:lnT w="12700" cap="flat" cmpd="sng" algn="ctr">
                      <a:solidFill>
                        <a:srgbClr val="BFC9D9"/>
                      </a:solidFill>
                      <a:prstDash val="solid"/>
                      <a:round/>
                      <a:headEnd type="none" w="med" len="med"/>
                      <a:tailEnd type="none" w="med" len="med"/>
                    </a:lnT>
                    <a:lnB w="12700" cap="flat" cmpd="sng" algn="ctr">
                      <a:solidFill>
                        <a:srgbClr val="BFC9D9"/>
                      </a:solidFill>
                      <a:prstDash val="solid"/>
                      <a:round/>
                      <a:headEnd type="none" w="med" len="med"/>
                      <a:tailEnd type="none" w="med" len="med"/>
                    </a:lnB>
                    <a:solidFill>
                      <a:srgbClr val="D9E2F0"/>
                    </a:solidFill>
                  </a:tcPr>
                </a:tc>
              </a:tr>
              <a:tr h="548640">
                <a:tc>
                  <a:txBody>
                    <a:bodyPr/>
                    <a:lstStyle/>
                    <a:p>
                      <a:pPr algn="l" indent="0" marL="0">
                        <a:buNone/>
                      </a:pPr>
                      <a:r>
                        <a:rPr lang="en-US" sz="1700" b="1" dirty="0">
                          <a:solidFill>
                            <a:srgbClr val="1A1A1A"/>
                          </a:solidFill>
                          <a:latin typeface="Arial" pitchFamily="34" charset="0"/>
                          <a:ea typeface="Arial" pitchFamily="34" charset="-122"/>
                          <a:cs typeface="Arial" pitchFamily="34" charset="-120"/>
                        </a:rPr>
                        <a:t>1.  Our scanner</a:t>
                      </a:r>
                      <a:endParaRPr lang="en-US" sz="1700" dirty="0">
                        <a:latin typeface="Arial" charset="0"/>
                        <a:ea typeface="Arial" charset="0"/>
                        <a:cs typeface="Arial" charset="0"/>
                      </a:endParaRPr>
                    </a:p>
                  </a:txBody>
                  <a:tcPr marL="73152" marR="73152" marT="73152" marB="73152" anchor="ctr">
                    <a:lnL w="12700" cap="flat" cmpd="sng" algn="ctr">
                      <a:solidFill>
                        <a:srgbClr val="BFC9D9"/>
                      </a:solidFill>
                      <a:prstDash val="solid"/>
                      <a:round/>
                      <a:headEnd type="none" w="med" len="med"/>
                      <a:tailEnd type="none" w="med" len="med"/>
                    </a:lnL>
                    <a:lnR w="12700" cap="flat" cmpd="sng" algn="ctr">
                      <a:solidFill>
                        <a:srgbClr val="BFC9D9"/>
                      </a:solidFill>
                      <a:prstDash val="solid"/>
                      <a:round/>
                      <a:headEnd type="none" w="med" len="med"/>
                      <a:tailEnd type="none" w="med" len="med"/>
                    </a:lnR>
                    <a:lnT w="12700" cap="flat" cmpd="sng" algn="ctr">
                      <a:solidFill>
                        <a:srgbClr val="BFC9D9"/>
                      </a:solidFill>
                      <a:prstDash val="solid"/>
                      <a:round/>
                      <a:headEnd type="none" w="med" len="med"/>
                      <a:tailEnd type="none" w="med" len="med"/>
                    </a:lnT>
                    <a:lnB w="12700" cap="flat" cmpd="sng" algn="ctr">
                      <a:solidFill>
                        <a:srgbClr val="BFC9D9"/>
                      </a:solidFill>
                      <a:prstDash val="solid"/>
                      <a:round/>
                      <a:headEnd type="none" w="med" len="med"/>
                      <a:tailEnd type="none" w="med" len="med"/>
                    </a:lnB>
                    <a:solidFill>
                      <a:srgbClr val="F2F4F7"/>
                    </a:solidFill>
                  </a:tcPr>
                </a:tc>
                <a:tc>
                  <a:txBody>
                    <a:bodyPr/>
                    <a:lstStyle/>
                    <a:p>
                      <a:pPr algn="l" indent="0" marL="0">
                        <a:buNone/>
                      </a:pPr>
                      <a:r>
                        <a:rPr lang="en-US" sz="1700" dirty="0">
                          <a:solidFill>
                            <a:srgbClr val="1A1A1A"/>
                          </a:solidFill>
                          <a:latin typeface="Arial" pitchFamily="34" charset="0"/>
                          <a:ea typeface="Arial" pitchFamily="34" charset="-122"/>
                          <a:cs typeface="Arial" pitchFamily="34" charset="-120"/>
                        </a:rPr>
                        <a:t>Finds a 7mer-A1 at 1,126–1,132 on NM_001018005.2 (MANE Select)</a:t>
                      </a:r>
                      <a:endParaRPr lang="en-US" sz="1700" dirty="0">
                        <a:latin typeface="Arial" charset="0"/>
                        <a:ea typeface="Arial" charset="0"/>
                        <a:cs typeface="Arial" charset="0"/>
                      </a:endParaRPr>
                    </a:p>
                  </a:txBody>
                  <a:tcPr marL="73152" marR="73152" marT="73152" marB="73152" anchor="ctr">
                    <a:lnL w="12700" cap="flat" cmpd="sng" algn="ctr">
                      <a:solidFill>
                        <a:srgbClr val="BFC9D9"/>
                      </a:solidFill>
                      <a:prstDash val="solid"/>
                      <a:round/>
                      <a:headEnd type="none" w="med" len="med"/>
                      <a:tailEnd type="none" w="med" len="med"/>
                    </a:lnL>
                    <a:lnR w="12700" cap="flat" cmpd="sng" algn="ctr">
                      <a:solidFill>
                        <a:srgbClr val="BFC9D9"/>
                      </a:solidFill>
                      <a:prstDash val="solid"/>
                      <a:round/>
                      <a:headEnd type="none" w="med" len="med"/>
                      <a:tailEnd type="none" w="med" len="med"/>
                    </a:lnR>
                    <a:lnT w="12700" cap="flat" cmpd="sng" algn="ctr">
                      <a:solidFill>
                        <a:srgbClr val="BFC9D9"/>
                      </a:solidFill>
                      <a:prstDash val="solid"/>
                      <a:round/>
                      <a:headEnd type="none" w="med" len="med"/>
                      <a:tailEnd type="none" w="med" len="med"/>
                    </a:lnT>
                    <a:lnB w="12700" cap="flat" cmpd="sng" algn="ctr">
                      <a:solidFill>
                        <a:srgbClr val="BFC9D9"/>
                      </a:solidFill>
                      <a:prstDash val="solid"/>
                      <a:round/>
                      <a:headEnd type="none" w="med" len="med"/>
                      <a:tailEnd type="none" w="med" len="med"/>
                    </a:lnB>
                    <a:solidFill>
                      <a:srgbClr val="F2F4F7"/>
                    </a:solidFill>
                  </a:tcPr>
                </a:tc>
              </a:tr>
              <a:tr h="548640">
                <a:tc>
                  <a:txBody>
                    <a:bodyPr/>
                    <a:lstStyle/>
                    <a:p>
                      <a:pPr algn="l" indent="0" marL="0">
                        <a:buNone/>
                      </a:pPr>
                      <a:r>
                        <a:rPr lang="en-US" sz="1700" b="1" dirty="0">
                          <a:solidFill>
                            <a:srgbClr val="1A1A1A"/>
                          </a:solidFill>
                          <a:latin typeface="Arial" pitchFamily="34" charset="0"/>
                          <a:ea typeface="Arial" pitchFamily="34" charset="-122"/>
                          <a:cs typeface="Arial" pitchFamily="34" charset="-120"/>
                        </a:rPr>
                        <a:t>2.  TargetScan</a:t>
                      </a:r>
                      <a:endParaRPr lang="en-US" sz="1700" dirty="0">
                        <a:latin typeface="Arial" charset="0"/>
                        <a:ea typeface="Arial" charset="0"/>
                        <a:cs typeface="Arial" charset="0"/>
                      </a:endParaRPr>
                    </a:p>
                  </a:txBody>
                  <a:tcPr marL="73152" marR="73152" marT="73152" marB="73152" anchor="ctr">
                    <a:lnL w="12700" cap="flat" cmpd="sng" algn="ctr">
                      <a:solidFill>
                        <a:srgbClr val="BFC9D9"/>
                      </a:solidFill>
                      <a:prstDash val="solid"/>
                      <a:round/>
                      <a:headEnd type="none" w="med" len="med"/>
                      <a:tailEnd type="none" w="med" len="med"/>
                    </a:lnL>
                    <a:lnR w="12700" cap="flat" cmpd="sng" algn="ctr">
                      <a:solidFill>
                        <a:srgbClr val="BFC9D9"/>
                      </a:solidFill>
                      <a:prstDash val="solid"/>
                      <a:round/>
                      <a:headEnd type="none" w="med" len="med"/>
                      <a:tailEnd type="none" w="med" len="med"/>
                    </a:lnR>
                    <a:lnT w="12700" cap="flat" cmpd="sng" algn="ctr">
                      <a:solidFill>
                        <a:srgbClr val="BFC9D9"/>
                      </a:solidFill>
                      <a:prstDash val="solid"/>
                      <a:round/>
                      <a:headEnd type="none" w="med" len="med"/>
                      <a:tailEnd type="none" w="med" len="med"/>
                    </a:lnT>
                    <a:lnB w="12700" cap="flat" cmpd="sng" algn="ctr">
                      <a:solidFill>
                        <a:srgbClr val="BFC9D9"/>
                      </a:solidFill>
                      <a:prstDash val="solid"/>
                      <a:round/>
                      <a:headEnd type="none" w="med" len="med"/>
                      <a:tailEnd type="none" w="med" len="med"/>
                    </a:lnB>
                    <a:solidFill>
                      <a:srgbClr val="FFFFFF"/>
                    </a:solidFill>
                  </a:tcPr>
                </a:tc>
                <a:tc>
                  <a:txBody>
                    <a:bodyPr/>
                    <a:lstStyle/>
                    <a:p>
                      <a:pPr algn="l" indent="0" marL="0">
                        <a:buNone/>
                      </a:pPr>
                      <a:r>
                        <a:rPr lang="en-US" sz="1700" dirty="0">
                          <a:solidFill>
                            <a:srgbClr val="1A1A1A"/>
                          </a:solidFill>
                          <a:latin typeface="Arial" pitchFamily="34" charset="0"/>
                          <a:ea typeface="Arial" pitchFamily="34" charset="-122"/>
                          <a:cs typeface="Arial" pitchFamily="34" charset="-120"/>
                        </a:rPr>
                        <a:t>Returns ZERO rows for TPM1 with the miR-21 seed</a:t>
                      </a:r>
                      <a:endParaRPr lang="en-US" sz="1700" dirty="0">
                        <a:latin typeface="Arial" charset="0"/>
                        <a:ea typeface="Arial" charset="0"/>
                        <a:cs typeface="Arial" charset="0"/>
                      </a:endParaRPr>
                    </a:p>
                  </a:txBody>
                  <a:tcPr marL="73152" marR="73152" marT="73152" marB="73152" anchor="ctr">
                    <a:lnL w="12700" cap="flat" cmpd="sng" algn="ctr">
                      <a:solidFill>
                        <a:srgbClr val="BFC9D9"/>
                      </a:solidFill>
                      <a:prstDash val="solid"/>
                      <a:round/>
                      <a:headEnd type="none" w="med" len="med"/>
                      <a:tailEnd type="none" w="med" len="med"/>
                    </a:lnL>
                    <a:lnR w="12700" cap="flat" cmpd="sng" algn="ctr">
                      <a:solidFill>
                        <a:srgbClr val="BFC9D9"/>
                      </a:solidFill>
                      <a:prstDash val="solid"/>
                      <a:round/>
                      <a:headEnd type="none" w="med" len="med"/>
                      <a:tailEnd type="none" w="med" len="med"/>
                    </a:lnR>
                    <a:lnT w="12700" cap="flat" cmpd="sng" algn="ctr">
                      <a:solidFill>
                        <a:srgbClr val="BFC9D9"/>
                      </a:solidFill>
                      <a:prstDash val="solid"/>
                      <a:round/>
                      <a:headEnd type="none" w="med" len="med"/>
                      <a:tailEnd type="none" w="med" len="med"/>
                    </a:lnT>
                    <a:lnB w="12700" cap="flat" cmpd="sng" algn="ctr">
                      <a:solidFill>
                        <a:srgbClr val="BFC9D9"/>
                      </a:solidFill>
                      <a:prstDash val="solid"/>
                      <a:round/>
                      <a:headEnd type="none" w="med" len="med"/>
                      <a:tailEnd type="none" w="med" len="med"/>
                    </a:lnB>
                    <a:solidFill>
                      <a:srgbClr val="FFFFFF"/>
                    </a:solidFill>
                  </a:tcPr>
                </a:tc>
              </a:tr>
              <a:tr h="548640">
                <a:tc>
                  <a:txBody>
                    <a:bodyPr/>
                    <a:lstStyle/>
                    <a:p>
                      <a:pPr algn="l" indent="0" marL="0">
                        <a:buNone/>
                      </a:pPr>
                      <a:r>
                        <a:rPr lang="en-US" sz="1700" b="1" dirty="0">
                          <a:solidFill>
                            <a:srgbClr val="1A1A1A"/>
                          </a:solidFill>
                          <a:latin typeface="Arial" pitchFamily="34" charset="0"/>
                          <a:ea typeface="Arial" pitchFamily="34" charset="-122"/>
                          <a:cs typeface="Arial" pitchFamily="34" charset="-120"/>
                        </a:rPr>
                        <a:t>3.  Not a filter artefact</a:t>
                      </a:r>
                      <a:endParaRPr lang="en-US" sz="1700" dirty="0">
                        <a:latin typeface="Arial" charset="0"/>
                        <a:ea typeface="Arial" charset="0"/>
                        <a:cs typeface="Arial" charset="0"/>
                      </a:endParaRPr>
                    </a:p>
                  </a:txBody>
                  <a:tcPr marL="73152" marR="73152" marT="73152" marB="73152" anchor="ctr">
                    <a:lnL w="12700" cap="flat" cmpd="sng" algn="ctr">
                      <a:solidFill>
                        <a:srgbClr val="BFC9D9"/>
                      </a:solidFill>
                      <a:prstDash val="solid"/>
                      <a:round/>
                      <a:headEnd type="none" w="med" len="med"/>
                      <a:tailEnd type="none" w="med" len="med"/>
                    </a:lnL>
                    <a:lnR w="12700" cap="flat" cmpd="sng" algn="ctr">
                      <a:solidFill>
                        <a:srgbClr val="BFC9D9"/>
                      </a:solidFill>
                      <a:prstDash val="solid"/>
                      <a:round/>
                      <a:headEnd type="none" w="med" len="med"/>
                      <a:tailEnd type="none" w="med" len="med"/>
                    </a:lnR>
                    <a:lnT w="12700" cap="flat" cmpd="sng" algn="ctr">
                      <a:solidFill>
                        <a:srgbClr val="BFC9D9"/>
                      </a:solidFill>
                      <a:prstDash val="solid"/>
                      <a:round/>
                      <a:headEnd type="none" w="med" len="med"/>
                      <a:tailEnd type="none" w="med" len="med"/>
                    </a:lnT>
                    <a:lnB w="12700" cap="flat" cmpd="sng" algn="ctr">
                      <a:solidFill>
                        <a:srgbClr val="BFC9D9"/>
                      </a:solidFill>
                      <a:prstDash val="solid"/>
                      <a:round/>
                      <a:headEnd type="none" w="med" len="med"/>
                      <a:tailEnd type="none" w="med" len="med"/>
                    </a:lnB>
                    <a:solidFill>
                      <a:srgbClr val="F2F4F7"/>
                    </a:solidFill>
                  </a:tcPr>
                </a:tc>
                <a:tc>
                  <a:txBody>
                    <a:bodyPr/>
                    <a:lstStyle/>
                    <a:p>
                      <a:pPr algn="l" indent="0" marL="0">
                        <a:buNone/>
                      </a:pPr>
                      <a:r>
                        <a:rPr lang="en-US" sz="1700" dirty="0">
                          <a:solidFill>
                            <a:srgbClr val="1A1A1A"/>
                          </a:solidFill>
                          <a:latin typeface="Arial" pitchFamily="34" charset="0"/>
                          <a:ea typeface="Arial" pitchFamily="34" charset="-122"/>
                          <a:cs typeface="Arial" pitchFamily="34" charset="-120"/>
                        </a:rPr>
                        <a:t>TPM1 IS in targetscan_genes, and ALL predictions were loaded</a:t>
                      </a:r>
                      <a:endParaRPr lang="en-US" sz="1700" dirty="0">
                        <a:latin typeface="Arial" charset="0"/>
                        <a:ea typeface="Arial" charset="0"/>
                        <a:cs typeface="Arial" charset="0"/>
                      </a:endParaRPr>
                    </a:p>
                  </a:txBody>
                  <a:tcPr marL="73152" marR="73152" marT="73152" marB="73152" anchor="ctr">
                    <a:lnL w="12700" cap="flat" cmpd="sng" algn="ctr">
                      <a:solidFill>
                        <a:srgbClr val="BFC9D9"/>
                      </a:solidFill>
                      <a:prstDash val="solid"/>
                      <a:round/>
                      <a:headEnd type="none" w="med" len="med"/>
                      <a:tailEnd type="none" w="med" len="med"/>
                    </a:lnL>
                    <a:lnR w="12700" cap="flat" cmpd="sng" algn="ctr">
                      <a:solidFill>
                        <a:srgbClr val="BFC9D9"/>
                      </a:solidFill>
                      <a:prstDash val="solid"/>
                      <a:round/>
                      <a:headEnd type="none" w="med" len="med"/>
                      <a:tailEnd type="none" w="med" len="med"/>
                    </a:lnR>
                    <a:lnT w="12700" cap="flat" cmpd="sng" algn="ctr">
                      <a:solidFill>
                        <a:srgbClr val="BFC9D9"/>
                      </a:solidFill>
                      <a:prstDash val="solid"/>
                      <a:round/>
                      <a:headEnd type="none" w="med" len="med"/>
                      <a:tailEnd type="none" w="med" len="med"/>
                    </a:lnT>
                    <a:lnB w="12700" cap="flat" cmpd="sng" algn="ctr">
                      <a:solidFill>
                        <a:srgbClr val="BFC9D9"/>
                      </a:solidFill>
                      <a:prstDash val="solid"/>
                      <a:round/>
                      <a:headEnd type="none" w="med" len="med"/>
                      <a:tailEnd type="none" w="med" len="med"/>
                    </a:lnB>
                    <a:solidFill>
                      <a:srgbClr val="F2F4F7"/>
                    </a:solidFill>
                  </a:tcPr>
                </a:tc>
              </a:tr>
              <a:tr h="548640">
                <a:tc>
                  <a:txBody>
                    <a:bodyPr/>
                    <a:lstStyle/>
                    <a:p>
                      <a:pPr algn="l" indent="0" marL="0">
                        <a:buNone/>
                      </a:pPr>
                      <a:r>
                        <a:rPr lang="en-US" sz="1700" b="1" dirty="0">
                          <a:solidFill>
                            <a:srgbClr val="1A1A1A"/>
                          </a:solidFill>
                          <a:latin typeface="Arial" pitchFamily="34" charset="0"/>
                          <a:ea typeface="Arial" pitchFamily="34" charset="-122"/>
                          <a:cs typeface="Arial" pitchFamily="34" charset="-120"/>
                        </a:rPr>
                        <a:t>4.  Database check</a:t>
                      </a:r>
                      <a:endParaRPr lang="en-US" sz="1700" dirty="0">
                        <a:latin typeface="Arial" charset="0"/>
                        <a:ea typeface="Arial" charset="0"/>
                        <a:cs typeface="Arial" charset="0"/>
                      </a:endParaRPr>
                    </a:p>
                  </a:txBody>
                  <a:tcPr marL="73152" marR="73152" marT="73152" marB="73152" anchor="ctr">
                    <a:lnL w="12700" cap="flat" cmpd="sng" algn="ctr">
                      <a:solidFill>
                        <a:srgbClr val="BFC9D9"/>
                      </a:solidFill>
                      <a:prstDash val="solid"/>
                      <a:round/>
                      <a:headEnd type="none" w="med" len="med"/>
                      <a:tailEnd type="none" w="med" len="med"/>
                    </a:lnL>
                    <a:lnR w="12700" cap="flat" cmpd="sng" algn="ctr">
                      <a:solidFill>
                        <a:srgbClr val="BFC9D9"/>
                      </a:solidFill>
                      <a:prstDash val="solid"/>
                      <a:round/>
                      <a:headEnd type="none" w="med" len="med"/>
                      <a:tailEnd type="none" w="med" len="med"/>
                    </a:lnR>
                    <a:lnT w="12700" cap="flat" cmpd="sng" algn="ctr">
                      <a:solidFill>
                        <a:srgbClr val="BFC9D9"/>
                      </a:solidFill>
                      <a:prstDash val="solid"/>
                      <a:round/>
                      <a:headEnd type="none" w="med" len="med"/>
                      <a:tailEnd type="none" w="med" len="med"/>
                    </a:lnT>
                    <a:lnB w="12700" cap="flat" cmpd="sng" algn="ctr">
                      <a:solidFill>
                        <a:srgbClr val="BFC9D9"/>
                      </a:solidFill>
                      <a:prstDash val="solid"/>
                      <a:round/>
                      <a:headEnd type="none" w="med" len="med"/>
                      <a:tailEnd type="none" w="med" len="med"/>
                    </a:lnB>
                    <a:solidFill>
                      <a:srgbClr val="FFFFFF"/>
                    </a:solidFill>
                  </a:tcPr>
                </a:tc>
                <a:tc>
                  <a:txBody>
                    <a:bodyPr/>
                    <a:lstStyle/>
                    <a:p>
                      <a:pPr algn="l" indent="0" marL="0">
                        <a:buNone/>
                      </a:pPr>
                      <a:r>
                        <a:rPr lang="en-US" sz="1700" dirty="0">
                          <a:solidFill>
                            <a:srgbClr val="1A1A1A"/>
                          </a:solidFill>
                          <a:latin typeface="Arial" pitchFamily="34" charset="0"/>
                          <a:ea typeface="Arial" pitchFamily="34" charset="-122"/>
                          <a:cs typeface="Arial" pitchFamily="34" charset="-120"/>
                        </a:rPr>
                        <a:t>is_mane = 0   →   TargetScan scored a different transcript</a:t>
                      </a:r>
                      <a:endParaRPr lang="en-US" sz="1700" dirty="0">
                        <a:latin typeface="Arial" charset="0"/>
                        <a:ea typeface="Arial" charset="0"/>
                        <a:cs typeface="Arial" charset="0"/>
                      </a:endParaRPr>
                    </a:p>
                  </a:txBody>
                  <a:tcPr marL="73152" marR="73152" marT="73152" marB="73152" anchor="ctr">
                    <a:lnL w="12700" cap="flat" cmpd="sng" algn="ctr">
                      <a:solidFill>
                        <a:srgbClr val="BFC9D9"/>
                      </a:solidFill>
                      <a:prstDash val="solid"/>
                      <a:round/>
                      <a:headEnd type="none" w="med" len="med"/>
                      <a:tailEnd type="none" w="med" len="med"/>
                    </a:lnL>
                    <a:lnR w="12700" cap="flat" cmpd="sng" algn="ctr">
                      <a:solidFill>
                        <a:srgbClr val="BFC9D9"/>
                      </a:solidFill>
                      <a:prstDash val="solid"/>
                      <a:round/>
                      <a:headEnd type="none" w="med" len="med"/>
                      <a:tailEnd type="none" w="med" len="med"/>
                    </a:lnR>
                    <a:lnT w="12700" cap="flat" cmpd="sng" algn="ctr">
                      <a:solidFill>
                        <a:srgbClr val="BFC9D9"/>
                      </a:solidFill>
                      <a:prstDash val="solid"/>
                      <a:round/>
                      <a:headEnd type="none" w="med" len="med"/>
                      <a:tailEnd type="none" w="med" len="med"/>
                    </a:lnT>
                    <a:lnB w="12700" cap="flat" cmpd="sng" algn="ctr">
                      <a:solidFill>
                        <a:srgbClr val="BFC9D9"/>
                      </a:solidFill>
                      <a:prstDash val="solid"/>
                      <a:round/>
                      <a:headEnd type="none" w="med" len="med"/>
                      <a:tailEnd type="none" w="med" len="med"/>
                    </a:lnB>
                    <a:solidFill>
                      <a:srgbClr val="FFFFFF"/>
                    </a:solidFill>
                  </a:tcPr>
                </a:tc>
              </a:tr>
              <a:tr h="548640">
                <a:tc>
                  <a:txBody>
                    <a:bodyPr/>
                    <a:lstStyle/>
                    <a:p>
                      <a:pPr algn="l" indent="0" marL="0">
                        <a:buNone/>
                      </a:pPr>
                      <a:r>
                        <a:rPr lang="en-US" sz="1700" b="1" dirty="0">
                          <a:solidFill>
                            <a:srgbClr val="1A1A1A"/>
                          </a:solidFill>
                          <a:latin typeface="Arial" pitchFamily="34" charset="0"/>
                          <a:ea typeface="Arial" pitchFamily="34" charset="-122"/>
                          <a:cs typeface="Arial" pitchFamily="34" charset="-120"/>
                        </a:rPr>
                        <a:t>5.  Conclusion</a:t>
                      </a:r>
                      <a:endParaRPr lang="en-US" sz="1700" dirty="0">
                        <a:latin typeface="Arial" charset="0"/>
                        <a:ea typeface="Arial" charset="0"/>
                        <a:cs typeface="Arial" charset="0"/>
                      </a:endParaRPr>
                    </a:p>
                  </a:txBody>
                  <a:tcPr marL="73152" marR="73152" marT="73152" marB="73152" anchor="ctr">
                    <a:lnL w="12700" cap="flat" cmpd="sng" algn="ctr">
                      <a:solidFill>
                        <a:srgbClr val="BFC9D9"/>
                      </a:solidFill>
                      <a:prstDash val="solid"/>
                      <a:round/>
                      <a:headEnd type="none" w="med" len="med"/>
                      <a:tailEnd type="none" w="med" len="med"/>
                    </a:lnL>
                    <a:lnR w="12700" cap="flat" cmpd="sng" algn="ctr">
                      <a:solidFill>
                        <a:srgbClr val="BFC9D9"/>
                      </a:solidFill>
                      <a:prstDash val="solid"/>
                      <a:round/>
                      <a:headEnd type="none" w="med" len="med"/>
                      <a:tailEnd type="none" w="med" len="med"/>
                    </a:lnR>
                    <a:lnT w="12700" cap="flat" cmpd="sng" algn="ctr">
                      <a:solidFill>
                        <a:srgbClr val="BFC9D9"/>
                      </a:solidFill>
                      <a:prstDash val="solid"/>
                      <a:round/>
                      <a:headEnd type="none" w="med" len="med"/>
                      <a:tailEnd type="none" w="med" len="med"/>
                    </a:lnT>
                    <a:lnB w="12700" cap="flat" cmpd="sng" algn="ctr">
                      <a:solidFill>
                        <a:srgbClr val="BFC9D9"/>
                      </a:solidFill>
                      <a:prstDash val="solid"/>
                      <a:round/>
                      <a:headEnd type="none" w="med" len="med"/>
                      <a:tailEnd type="none" w="med" len="med"/>
                    </a:lnB>
                    <a:solidFill>
                      <a:srgbClr val="F2F4F7"/>
                    </a:solidFill>
                  </a:tcPr>
                </a:tc>
                <a:tc>
                  <a:txBody>
                    <a:bodyPr/>
                    <a:lstStyle/>
                    <a:p>
                      <a:pPr algn="l" indent="0" marL="0">
                        <a:buNone/>
                      </a:pPr>
                      <a:r>
                        <a:rPr lang="en-US" sz="1700" dirty="0">
                          <a:solidFill>
                            <a:srgbClr val="1A1A1A"/>
                          </a:solidFill>
                          <a:latin typeface="Arial" pitchFamily="34" charset="0"/>
                          <a:ea typeface="Arial" pitchFamily="34" charset="-122"/>
                          <a:cs typeface="Arial" pitchFamily="34" charset="-120"/>
                        </a:rPr>
                        <a:t>The site lies outside the 3'UTR TargetScan chose — TPM1 is heavily spliced</a:t>
                      </a:r>
                      <a:endParaRPr lang="en-US" sz="1700" dirty="0">
                        <a:latin typeface="Arial" charset="0"/>
                        <a:ea typeface="Arial" charset="0"/>
                        <a:cs typeface="Arial" charset="0"/>
                      </a:endParaRPr>
                    </a:p>
                  </a:txBody>
                  <a:tcPr marL="73152" marR="73152" marT="73152" marB="73152" anchor="ctr">
                    <a:lnL w="12700" cap="flat" cmpd="sng" algn="ctr">
                      <a:solidFill>
                        <a:srgbClr val="BFC9D9"/>
                      </a:solidFill>
                      <a:prstDash val="solid"/>
                      <a:round/>
                      <a:headEnd type="none" w="med" len="med"/>
                      <a:tailEnd type="none" w="med" len="med"/>
                    </a:lnL>
                    <a:lnR w="12700" cap="flat" cmpd="sng" algn="ctr">
                      <a:solidFill>
                        <a:srgbClr val="BFC9D9"/>
                      </a:solidFill>
                      <a:prstDash val="solid"/>
                      <a:round/>
                      <a:headEnd type="none" w="med" len="med"/>
                      <a:tailEnd type="none" w="med" len="med"/>
                    </a:lnR>
                    <a:lnT w="12700" cap="flat" cmpd="sng" algn="ctr">
                      <a:solidFill>
                        <a:srgbClr val="BFC9D9"/>
                      </a:solidFill>
                      <a:prstDash val="solid"/>
                      <a:round/>
                      <a:headEnd type="none" w="med" len="med"/>
                      <a:tailEnd type="none" w="med" len="med"/>
                    </a:lnT>
                    <a:lnB w="12700" cap="flat" cmpd="sng" algn="ctr">
                      <a:solidFill>
                        <a:srgbClr val="BFC9D9"/>
                      </a:solidFill>
                      <a:prstDash val="solid"/>
                      <a:round/>
                      <a:headEnd type="none" w="med" len="med"/>
                      <a:tailEnd type="none" w="med" len="med"/>
                    </a:lnB>
                    <a:solidFill>
                      <a:srgbClr val="F2F4F7"/>
                    </a:solidFill>
                  </a:tcPr>
                </a:tc>
              </a:tr>
            </a:tbl>
          </a:graphicData>
        </a:graphic>
      </p:graphicFrame>
      <p:sp>
        <p:nvSpPr>
          <p:cNvPr id="5" name="Shape 2"/>
          <p:cNvSpPr/>
          <p:nvPr/>
        </p:nvSpPr>
        <p:spPr>
          <a:xfrm>
            <a:off x="548640" y="5138928"/>
            <a:ext cx="11064240" cy="1280160"/>
          </a:xfrm>
          <a:prstGeom prst="roundRect">
            <a:avLst>
              <a:gd name="adj" fmla="val 5714"/>
            </a:avLst>
          </a:prstGeom>
          <a:solidFill>
            <a:srgbClr val="FDF6E3"/>
          </a:solidFill>
          <a:ln w="15875">
            <a:solidFill>
              <a:srgbClr val="D8C089"/>
            </a:solidFill>
            <a:prstDash val="solid"/>
          </a:ln>
        </p:spPr>
      </p:sp>
      <p:sp>
        <p:nvSpPr>
          <p:cNvPr id="6" name="Text 3"/>
          <p:cNvSpPr txBox="1"/>
          <p:nvPr/>
        </p:nvSpPr>
        <p:spPr>
          <a:xfrm>
            <a:off x="822960" y="5303520"/>
            <a:ext cx="10515600" cy="548640"/>
          </a:xfrm>
          <a:prstGeom prst="rect">
            <a:avLst/>
          </a:prstGeom>
          <a:noFill/>
          <a:ln/>
        </p:spPr>
        <p:txBody>
          <a:bodyPr wrap="square" lIns="0" tIns="0" rIns="0" bIns="0" rtlCol="0" anchor="t"/>
          <a:lstStyle/>
          <a:p>
            <a:pPr algn="l" indent="0" marL="0">
              <a:buNone/>
            </a:pPr>
            <a:r>
              <a:rPr lang="en-US" sz="1700" dirty="0">
                <a:solidFill>
                  <a:srgbClr val="595959"/>
                </a:solidFill>
                <a:latin typeface="Arial" pitchFamily="34" charset="0"/>
                <a:ea typeface="Arial" pitchFamily="34" charset="-122"/>
                <a:cs typeface="Arial" pitchFamily="34" charset="-120"/>
              </a:rPr>
              <a:t>Two very different things — and this is the second one:</a:t>
            </a:r>
            <a:endParaRPr lang="en-US" sz="1700" dirty="0"/>
          </a:p>
        </p:txBody>
      </p:sp>
      <p:sp>
        <p:nvSpPr>
          <p:cNvPr id="7" name="Text 4"/>
          <p:cNvSpPr txBox="1"/>
          <p:nvPr/>
        </p:nvSpPr>
        <p:spPr>
          <a:xfrm>
            <a:off x="822960" y="5641848"/>
            <a:ext cx="10515600" cy="640080"/>
          </a:xfrm>
          <a:prstGeom prst="rect">
            <a:avLst/>
          </a:prstGeom>
          <a:noFill/>
          <a:ln/>
        </p:spPr>
        <p:txBody>
          <a:bodyPr wrap="square" lIns="0" tIns="0" rIns="0" bIns="0" rtlCol="0" anchor="t"/>
          <a:lstStyle/>
          <a:p>
            <a:pPr algn="l" indent="0" marL="0">
              <a:buNone/>
            </a:pPr>
            <a:r>
              <a:rPr lang="en-US" sz="1800" b="1" dirty="0">
                <a:solidFill>
                  <a:srgbClr val="1A1A1A"/>
                </a:solidFill>
                <a:latin typeface="Arial" pitchFamily="34" charset="0"/>
                <a:ea typeface="Arial" pitchFamily="34" charset="-122"/>
                <a:cs typeface="Arial" pitchFamily="34" charset="-120"/>
              </a:rPr>
              <a:t>Algorithm disagreement = same sequence, different answer.     Reference disagreement = different sequence entirely.</a:t>
            </a:r>
            <a:endParaRPr lang="en-US" sz="1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685800"/>
          </a:xfrm>
          <a:prstGeom prst="rect">
            <a:avLst/>
          </a:prstGeom>
          <a:noFill/>
          <a:ln/>
        </p:spPr>
        <p:txBody>
          <a:bodyPr wrap="square" lIns="0" tIns="0" rIns="0" bIns="0" rtlCol="0" anchor="ctr"/>
          <a:lstStyle/>
          <a:p>
            <a:pPr algn="l" indent="0" marL="0">
              <a:buNone/>
            </a:pPr>
            <a:r>
              <a:rPr lang="en-US" sz="3400" b="1" dirty="0">
                <a:solidFill>
                  <a:srgbClr val="1F3864"/>
                </a:solidFill>
                <a:latin typeface="Arial" pitchFamily="34" charset="0"/>
                <a:ea typeface="Arial" pitchFamily="34" charset="-122"/>
                <a:cs typeface="Arial" pitchFamily="34" charset="-120"/>
              </a:rPr>
              <a:t>Live Verification From the Database</a:t>
            </a:r>
            <a:endParaRPr lang="en-US" sz="3400" dirty="0"/>
          </a:p>
        </p:txBody>
      </p:sp>
      <p:sp>
        <p:nvSpPr>
          <p:cNvPr id="3" name="Text 1"/>
          <p:cNvSpPr txBox="1"/>
          <p:nvPr/>
        </p:nvSpPr>
        <p:spPr>
          <a:xfrm>
            <a:off x="548640" y="1051560"/>
            <a:ext cx="11064240" cy="548640"/>
          </a:xfrm>
          <a:prstGeom prst="rect">
            <a:avLst/>
          </a:prstGeom>
          <a:noFill/>
          <a:ln/>
        </p:spPr>
        <p:txBody>
          <a:bodyPr wrap="square" lIns="0" tIns="0" rIns="0" bIns="0" rtlCol="0" anchor="t"/>
          <a:lstStyle/>
          <a:p>
            <a:pPr algn="l" indent="0" marL="0">
              <a:buNone/>
            </a:pPr>
            <a:r>
              <a:rPr lang="en-US" sz="1800" dirty="0">
                <a:solidFill>
                  <a:srgbClr val="595959"/>
                </a:solidFill>
                <a:latin typeface="Arial" pitchFamily="34" charset="0"/>
                <a:ea typeface="Arial" pitchFamily="34" charset="-122"/>
                <a:cs typeface="Arial" pitchFamily="34" charset="-120"/>
              </a:rPr>
              <a:t>Every number on the previous slides can be checked from the terminal in under a minute.</a:t>
            </a:r>
            <a:endParaRPr lang="en-US" sz="1800" dirty="0"/>
          </a:p>
        </p:txBody>
      </p:sp>
      <p:sp>
        <p:nvSpPr>
          <p:cNvPr id="4" name="Shape 2"/>
          <p:cNvSpPr/>
          <p:nvPr/>
        </p:nvSpPr>
        <p:spPr>
          <a:xfrm>
            <a:off x="548640" y="1481328"/>
            <a:ext cx="11064240" cy="1755648"/>
          </a:xfrm>
          <a:prstGeom prst="roundRect">
            <a:avLst>
              <a:gd name="adj" fmla="val 4167"/>
            </a:avLst>
          </a:prstGeom>
          <a:solidFill>
            <a:srgbClr val="F2F4F7"/>
          </a:solidFill>
          <a:ln w="15875">
            <a:solidFill>
              <a:srgbClr val="BFC9D9"/>
            </a:solidFill>
            <a:prstDash val="solid"/>
          </a:ln>
        </p:spPr>
      </p:sp>
      <p:sp>
        <p:nvSpPr>
          <p:cNvPr id="5" name="Text 3"/>
          <p:cNvSpPr txBox="1"/>
          <p:nvPr/>
        </p:nvSpPr>
        <p:spPr>
          <a:xfrm>
            <a:off x="822960" y="1627632"/>
            <a:ext cx="10515600" cy="1463040"/>
          </a:xfrm>
          <a:prstGeom prst="rect">
            <a:avLst/>
          </a:prstGeom>
          <a:noFill/>
          <a:ln/>
        </p:spPr>
        <p:txBody>
          <a:bodyPr wrap="square" lIns="0" tIns="0" rIns="0" bIns="0" rtlCol="0" anchor="ctr"/>
          <a:lstStyle/>
          <a:p>
            <a:pPr indent="0" marL="0">
              <a:lnSpc>
                <a:spcPts val="2100"/>
              </a:lnSpc>
              <a:buNone/>
            </a:pPr>
            <a:r>
              <a:rPr lang="en-US" sz="1500" dirty="0">
                <a:solidFill>
                  <a:srgbClr val="1A1A1A"/>
                </a:solidFill>
                <a:latin typeface="Courier New" pitchFamily="34" charset="0"/>
                <a:ea typeface="Courier New" pitchFamily="34" charset="-122"/>
                <a:cs typeface="Courier New" pitchFamily="34" charset="-120"/>
              </a:rPr>
              <a:t>sqlite3 data/processed/mirna.db \</a:t>
            </a:r>
            <a:endParaRPr lang="en-US" sz="1500" dirty="0"/>
          </a:p>
          <a:p>
            <a:pPr indent="0" marL="0">
              <a:lnSpc>
                <a:spcPts val="2100"/>
              </a:lnSpc>
              <a:buNone/>
            </a:pPr>
            <a:r>
              <a:rPr lang="en-US" sz="1500" dirty="0">
                <a:solidFill>
                  <a:srgbClr val="1A1A1A"/>
                </a:solidFill>
                <a:latin typeface="Courier New" pitchFamily="34" charset="0"/>
                <a:ea typeface="Courier New" pitchFamily="34" charset="-122"/>
                <a:cs typeface="Courier New" pitchFamily="34" charset="-120"/>
              </a:rPr>
              <a:t>  "SELECT is_mane, COUNT(*) FROM targetscan_genes GROUP BY is_mane;"</a:t>
            </a:r>
            <a:endParaRPr lang="en-US" sz="1500" dirty="0"/>
          </a:p>
          <a:p>
            <a:pPr indent="0" marL="0">
              <a:lnSpc>
                <a:spcPts val="2100"/>
              </a:lnSpc>
              <a:buNone/>
            </a:pPr>
            <a:r>
              <a:rPr lang="en-US" sz="1500" b="1" dirty="0">
                <a:solidFill>
                  <a:srgbClr val="1F3864"/>
                </a:solidFill>
                <a:latin typeface="Courier New" pitchFamily="34" charset="0"/>
                <a:ea typeface="Courier New" pitchFamily="34" charset="-122"/>
                <a:cs typeface="Courier New" pitchFamily="34" charset="-120"/>
              </a:rPr>
              <a:t>                             →  0 | 7,037        1 | 11,320</a:t>
            </a:r>
            <a:endParaRPr lang="en-US" sz="1500" dirty="0"/>
          </a:p>
          <a:p>
            <a:pPr indent="0" marL="0">
              <a:lnSpc>
                <a:spcPts val="2100"/>
              </a:lnSpc>
              <a:buNone/>
            </a:pPr>
            <a:r>
              <a:rPr lang="en-US" sz="1500" dirty="0">
                <a:solidFill>
                  <a:srgbClr val="1A1A1A"/>
                </a:solidFill>
                <a:latin typeface="Courier New" pitchFamily="34" charset="0"/>
                <a:ea typeface="Courier New" pitchFamily="34" charset="-122"/>
                <a:cs typeface="Courier New" pitchFamily="34" charset="-120"/>
              </a:rPr>
              <a:t>sqlite3 data/processed/mirna.db \</a:t>
            </a:r>
            <a:endParaRPr lang="en-US" sz="1500" dirty="0"/>
          </a:p>
          <a:p>
            <a:pPr indent="0" marL="0">
              <a:lnSpc>
                <a:spcPts val="2100"/>
              </a:lnSpc>
              <a:buNone/>
            </a:pPr>
            <a:r>
              <a:rPr lang="en-US" sz="1500" dirty="0">
                <a:solidFill>
                  <a:srgbClr val="1A1A1A"/>
                </a:solidFill>
                <a:latin typeface="Courier New" pitchFamily="34" charset="0"/>
                <a:ea typeface="Courier New" pitchFamily="34" charset="-122"/>
                <a:cs typeface="Courier New" pitchFamily="34" charset="-120"/>
              </a:rPr>
              <a:t>  "SELECT entrez, is_mane FROM targetscan_genes WHERE entrez='7168';"</a:t>
            </a:r>
            <a:endParaRPr lang="en-US" sz="1500" dirty="0"/>
          </a:p>
          <a:p>
            <a:pPr indent="0" marL="0">
              <a:lnSpc>
                <a:spcPts val="2100"/>
              </a:lnSpc>
              <a:buNone/>
            </a:pPr>
            <a:r>
              <a:rPr lang="en-US" sz="1500" b="1" dirty="0">
                <a:solidFill>
                  <a:srgbClr val="B22222"/>
                </a:solidFill>
                <a:latin typeface="Courier New" pitchFamily="34" charset="0"/>
                <a:ea typeface="Courier New" pitchFamily="34" charset="-122"/>
                <a:cs typeface="Courier New" pitchFamily="34" charset="-120"/>
              </a:rPr>
              <a:t>                             →  7168 | 0            (TPM1)</a:t>
            </a:r>
            <a:endParaRPr lang="en-US" sz="15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3474720"/>
          <a:ext cx="11064240" cy="914400"/>
        </p:xfrm>
        <a:graphic>
          <a:graphicData uri="http://schemas.openxmlformats.org/drawingml/2006/table">
            <a:tbl>
              <a:tblPr/>
              <a:tblGrid>
                <a:gridCol w="5760720"/>
                <a:gridCol w="5303520"/>
              </a:tblGrid>
              <a:tr h="502920">
                <a:tc>
                  <a:txBody>
                    <a:bodyPr/>
                    <a:lstStyle/>
                    <a:p>
                      <a:pPr algn="l" indent="0" marL="0">
                        <a:buNone/>
                      </a:pPr>
                      <a:r>
                        <a:rPr lang="en-US" sz="1700" b="1" dirty="0">
                          <a:solidFill>
                            <a:srgbClr val="1F3864"/>
                          </a:solidFill>
                          <a:latin typeface="Arial" pitchFamily="34" charset="0"/>
                          <a:ea typeface="Arial" pitchFamily="34" charset="-122"/>
                          <a:cs typeface="Arial" pitchFamily="34" charset="-120"/>
                        </a:rPr>
                        <a:t>Check</a:t>
                      </a:r>
                      <a:endParaRPr lang="en-US" sz="1700" dirty="0">
                        <a:latin typeface="Arial" charset="0"/>
                        <a:ea typeface="Arial" charset="0"/>
                        <a:cs typeface="Arial" charset="0"/>
                      </a:endParaRPr>
                    </a:p>
                  </a:txBody>
                  <a:tcPr marL="73152" marR="73152" marT="73152" marB="73152" anchor="ctr">
                    <a:lnL w="12700" cap="flat" cmpd="sng" algn="ctr">
                      <a:solidFill>
                        <a:srgbClr val="BFC9D9"/>
                      </a:solidFill>
                      <a:prstDash val="solid"/>
                      <a:round/>
                      <a:headEnd type="none" w="med" len="med"/>
                      <a:tailEnd type="none" w="med" len="med"/>
                    </a:lnL>
                    <a:lnR w="12700" cap="flat" cmpd="sng" algn="ctr">
                      <a:solidFill>
                        <a:srgbClr val="BFC9D9"/>
                      </a:solidFill>
                      <a:prstDash val="solid"/>
                      <a:round/>
                      <a:headEnd type="none" w="med" len="med"/>
                      <a:tailEnd type="none" w="med" len="med"/>
                    </a:lnR>
                    <a:lnT w="12700" cap="flat" cmpd="sng" algn="ctr">
                      <a:solidFill>
                        <a:srgbClr val="BFC9D9"/>
                      </a:solidFill>
                      <a:prstDash val="solid"/>
                      <a:round/>
                      <a:headEnd type="none" w="med" len="med"/>
                      <a:tailEnd type="none" w="med" len="med"/>
                    </a:lnT>
                    <a:lnB w="12700" cap="flat" cmpd="sng" algn="ctr">
                      <a:solidFill>
                        <a:srgbClr val="BFC9D9"/>
                      </a:solidFill>
                      <a:prstDash val="solid"/>
                      <a:round/>
                      <a:headEnd type="none" w="med" len="med"/>
                      <a:tailEnd type="none" w="med" len="med"/>
                    </a:lnB>
                    <a:solidFill>
                      <a:srgbClr val="D9E2F0"/>
                    </a:solidFill>
                  </a:tcPr>
                </a:tc>
                <a:tc>
                  <a:txBody>
                    <a:bodyPr/>
                    <a:lstStyle/>
                    <a:p>
                      <a:pPr algn="l" indent="0" marL="0">
                        <a:buNone/>
                      </a:pPr>
                      <a:r>
                        <a:rPr lang="en-US" sz="1700" b="1" dirty="0">
                          <a:solidFill>
                            <a:srgbClr val="1F3864"/>
                          </a:solidFill>
                          <a:latin typeface="Arial" pitchFamily="34" charset="0"/>
                          <a:ea typeface="Arial" pitchFamily="34" charset="-122"/>
                          <a:cs typeface="Arial" pitchFamily="34" charset="-120"/>
                        </a:rPr>
                        <a:t>Result</a:t>
                      </a:r>
                      <a:endParaRPr lang="en-US" sz="1700" dirty="0">
                        <a:latin typeface="Arial" charset="0"/>
                        <a:ea typeface="Arial" charset="0"/>
                        <a:cs typeface="Arial" charset="0"/>
                      </a:endParaRPr>
                    </a:p>
                  </a:txBody>
                  <a:tcPr marL="73152" marR="73152" marT="73152" marB="73152" anchor="ctr">
                    <a:lnL w="12700" cap="flat" cmpd="sng" algn="ctr">
                      <a:solidFill>
                        <a:srgbClr val="BFC9D9"/>
                      </a:solidFill>
                      <a:prstDash val="solid"/>
                      <a:round/>
                      <a:headEnd type="none" w="med" len="med"/>
                      <a:tailEnd type="none" w="med" len="med"/>
                    </a:lnL>
                    <a:lnR w="12700" cap="flat" cmpd="sng" algn="ctr">
                      <a:solidFill>
                        <a:srgbClr val="BFC9D9"/>
                      </a:solidFill>
                      <a:prstDash val="solid"/>
                      <a:round/>
                      <a:headEnd type="none" w="med" len="med"/>
                      <a:tailEnd type="none" w="med" len="med"/>
                    </a:lnR>
                    <a:lnT w="12700" cap="flat" cmpd="sng" algn="ctr">
                      <a:solidFill>
                        <a:srgbClr val="BFC9D9"/>
                      </a:solidFill>
                      <a:prstDash val="solid"/>
                      <a:round/>
                      <a:headEnd type="none" w="med" len="med"/>
                      <a:tailEnd type="none" w="med" len="med"/>
                    </a:lnT>
                    <a:lnB w="12700" cap="flat" cmpd="sng" algn="ctr">
                      <a:solidFill>
                        <a:srgbClr val="BFC9D9"/>
                      </a:solidFill>
                      <a:prstDash val="solid"/>
                      <a:round/>
                      <a:headEnd type="none" w="med" len="med"/>
                      <a:tailEnd type="none" w="med" len="med"/>
                    </a:lnB>
                    <a:solidFill>
                      <a:srgbClr val="D9E2F0"/>
                    </a:solidFill>
                  </a:tcPr>
                </a:tc>
              </a:tr>
              <a:tr h="502920">
                <a:tc>
                  <a:txBody>
                    <a:bodyPr/>
                    <a:lstStyle/>
                    <a:p>
                      <a:pPr algn="l" indent="0" marL="0">
                        <a:buNone/>
                      </a:pPr>
                      <a:r>
                        <a:rPr lang="en-US" sz="1700" dirty="0">
                          <a:solidFill>
                            <a:srgbClr val="1A1A1A"/>
                          </a:solidFill>
                          <a:latin typeface="Arial" pitchFamily="34" charset="0"/>
                          <a:ea typeface="Arial" pitchFamily="34" charset="-122"/>
                          <a:cs typeface="Arial" pitchFamily="34" charset="-120"/>
                        </a:rPr>
                        <a:t>Genes in targetscan_genes</a:t>
                      </a:r>
                      <a:endParaRPr lang="en-US" sz="1700" dirty="0">
                        <a:latin typeface="Arial" charset="0"/>
                        <a:ea typeface="Arial" charset="0"/>
                        <a:cs typeface="Arial" charset="0"/>
                      </a:endParaRPr>
                    </a:p>
                  </a:txBody>
                  <a:tcPr marL="73152" marR="73152" marT="73152" marB="73152" anchor="ctr">
                    <a:lnL w="12700" cap="flat" cmpd="sng" algn="ctr">
                      <a:solidFill>
                        <a:srgbClr val="BFC9D9"/>
                      </a:solidFill>
                      <a:prstDash val="solid"/>
                      <a:round/>
                      <a:headEnd type="none" w="med" len="med"/>
                      <a:tailEnd type="none" w="med" len="med"/>
                    </a:lnL>
                    <a:lnR w="12700" cap="flat" cmpd="sng" algn="ctr">
                      <a:solidFill>
                        <a:srgbClr val="BFC9D9"/>
                      </a:solidFill>
                      <a:prstDash val="solid"/>
                      <a:round/>
                      <a:headEnd type="none" w="med" len="med"/>
                      <a:tailEnd type="none" w="med" len="med"/>
                    </a:lnR>
                    <a:lnT w="12700" cap="flat" cmpd="sng" algn="ctr">
                      <a:solidFill>
                        <a:srgbClr val="BFC9D9"/>
                      </a:solidFill>
                      <a:prstDash val="solid"/>
                      <a:round/>
                      <a:headEnd type="none" w="med" len="med"/>
                      <a:tailEnd type="none" w="med" len="med"/>
                    </a:lnT>
                    <a:lnB w="12700" cap="flat" cmpd="sng" algn="ctr">
                      <a:solidFill>
                        <a:srgbClr val="BFC9D9"/>
                      </a:solidFill>
                      <a:prstDash val="solid"/>
                      <a:round/>
                      <a:headEnd type="none" w="med" len="med"/>
                      <a:tailEnd type="none" w="med" len="med"/>
                    </a:lnB>
                    <a:solidFill>
                      <a:srgbClr val="F2F4F7"/>
                    </a:solidFill>
                  </a:tcPr>
                </a:tc>
                <a:tc>
                  <a:txBody>
                    <a:bodyPr/>
                    <a:lstStyle/>
                    <a:p>
                      <a:pPr algn="l" indent="0" marL="0">
                        <a:buNone/>
                      </a:pPr>
                      <a:r>
                        <a:rPr lang="en-US" sz="1700" b="1" dirty="0">
                          <a:solidFill>
                            <a:srgbClr val="1A1A1A"/>
                          </a:solidFill>
                          <a:latin typeface="Arial" pitchFamily="34" charset="0"/>
                          <a:ea typeface="Arial" pitchFamily="34" charset="-122"/>
                          <a:cs typeface="Arial" pitchFamily="34" charset="-120"/>
                        </a:rPr>
                        <a:t>18,357     (11,320 on MANE = 61.7 %)</a:t>
                      </a:r>
                      <a:endParaRPr lang="en-US" sz="1700" dirty="0">
                        <a:latin typeface="Arial" charset="0"/>
                        <a:ea typeface="Arial" charset="0"/>
                        <a:cs typeface="Arial" charset="0"/>
                      </a:endParaRPr>
                    </a:p>
                  </a:txBody>
                  <a:tcPr marL="73152" marR="73152" marT="73152" marB="73152" anchor="ctr">
                    <a:lnL w="12700" cap="flat" cmpd="sng" algn="ctr">
                      <a:solidFill>
                        <a:srgbClr val="BFC9D9"/>
                      </a:solidFill>
                      <a:prstDash val="solid"/>
                      <a:round/>
                      <a:headEnd type="none" w="med" len="med"/>
                      <a:tailEnd type="none" w="med" len="med"/>
                    </a:lnL>
                    <a:lnR w="12700" cap="flat" cmpd="sng" algn="ctr">
                      <a:solidFill>
                        <a:srgbClr val="BFC9D9"/>
                      </a:solidFill>
                      <a:prstDash val="solid"/>
                      <a:round/>
                      <a:headEnd type="none" w="med" len="med"/>
                      <a:tailEnd type="none" w="med" len="med"/>
                    </a:lnR>
                    <a:lnT w="12700" cap="flat" cmpd="sng" algn="ctr">
                      <a:solidFill>
                        <a:srgbClr val="BFC9D9"/>
                      </a:solidFill>
                      <a:prstDash val="solid"/>
                      <a:round/>
                      <a:headEnd type="none" w="med" len="med"/>
                      <a:tailEnd type="none" w="med" len="med"/>
                    </a:lnT>
                    <a:lnB w="12700" cap="flat" cmpd="sng" algn="ctr">
                      <a:solidFill>
                        <a:srgbClr val="BFC9D9"/>
                      </a:solidFill>
                      <a:prstDash val="solid"/>
                      <a:round/>
                      <a:headEnd type="none" w="med" len="med"/>
                      <a:tailEnd type="none" w="med" len="med"/>
                    </a:lnB>
                    <a:solidFill>
                      <a:srgbClr val="F2F4F7"/>
                    </a:solidFill>
                  </a:tcPr>
                </a:tc>
              </a:tr>
              <a:tr h="502920">
                <a:tc>
                  <a:txBody>
                    <a:bodyPr/>
                    <a:lstStyle/>
                    <a:p>
                      <a:pPr algn="l" indent="0" marL="0">
                        <a:buNone/>
                      </a:pPr>
                      <a:r>
                        <a:rPr lang="en-US" sz="1700" dirty="0">
                          <a:solidFill>
                            <a:srgbClr val="1A1A1A"/>
                          </a:solidFill>
                          <a:latin typeface="Arial" pitchFamily="34" charset="0"/>
                          <a:ea typeface="Arial" pitchFamily="34" charset="-122"/>
                          <a:cs typeface="Arial" pitchFamily="34" charset="-120"/>
                        </a:rPr>
                        <a:t>MANE genes with NO TargetScan record</a:t>
                      </a:r>
                      <a:endParaRPr lang="en-US" sz="1700" dirty="0">
                        <a:latin typeface="Arial" charset="0"/>
                        <a:ea typeface="Arial" charset="0"/>
                        <a:cs typeface="Arial" charset="0"/>
                      </a:endParaRPr>
                    </a:p>
                  </a:txBody>
                  <a:tcPr marL="73152" marR="73152" marT="73152" marB="73152" anchor="ctr">
                    <a:lnL w="12700" cap="flat" cmpd="sng" algn="ctr">
                      <a:solidFill>
                        <a:srgbClr val="BFC9D9"/>
                      </a:solidFill>
                      <a:prstDash val="solid"/>
                      <a:round/>
                      <a:headEnd type="none" w="med" len="med"/>
                      <a:tailEnd type="none" w="med" len="med"/>
                    </a:lnL>
                    <a:lnR w="12700" cap="flat" cmpd="sng" algn="ctr">
                      <a:solidFill>
                        <a:srgbClr val="BFC9D9"/>
                      </a:solidFill>
                      <a:prstDash val="solid"/>
                      <a:round/>
                      <a:headEnd type="none" w="med" len="med"/>
                      <a:tailEnd type="none" w="med" len="med"/>
                    </a:lnR>
                    <a:lnT w="12700" cap="flat" cmpd="sng" algn="ctr">
                      <a:solidFill>
                        <a:srgbClr val="BFC9D9"/>
                      </a:solidFill>
                      <a:prstDash val="solid"/>
                      <a:round/>
                      <a:headEnd type="none" w="med" len="med"/>
                      <a:tailEnd type="none" w="med" len="med"/>
                    </a:lnT>
                    <a:lnB w="12700" cap="flat" cmpd="sng" algn="ctr">
                      <a:solidFill>
                        <a:srgbClr val="BFC9D9"/>
                      </a:solidFill>
                      <a:prstDash val="solid"/>
                      <a:round/>
                      <a:headEnd type="none" w="med" len="med"/>
                      <a:tailEnd type="none" w="med" len="med"/>
                    </a:lnB>
                    <a:solidFill>
                      <a:srgbClr val="FFFFFF"/>
                    </a:solidFill>
                  </a:tcPr>
                </a:tc>
                <a:tc>
                  <a:txBody>
                    <a:bodyPr/>
                    <a:lstStyle/>
                    <a:p>
                      <a:pPr algn="l" indent="0" marL="0">
                        <a:buNone/>
                      </a:pPr>
                      <a:r>
                        <a:rPr lang="en-US" sz="1700" b="1" dirty="0">
                          <a:solidFill>
                            <a:srgbClr val="1A1A1A"/>
                          </a:solidFill>
                          <a:latin typeface="Arial" pitchFamily="34" charset="0"/>
                          <a:ea typeface="Arial" pitchFamily="34" charset="-122"/>
                          <a:cs typeface="Arial" pitchFamily="34" charset="-120"/>
                        </a:rPr>
                        <a:t>1,006     →  their cell reads "N.A."</a:t>
                      </a:r>
                      <a:endParaRPr lang="en-US" sz="1700" dirty="0">
                        <a:latin typeface="Arial" charset="0"/>
                        <a:ea typeface="Arial" charset="0"/>
                        <a:cs typeface="Arial" charset="0"/>
                      </a:endParaRPr>
                    </a:p>
                  </a:txBody>
                  <a:tcPr marL="73152" marR="73152" marT="73152" marB="73152" anchor="ctr">
                    <a:lnL w="12700" cap="flat" cmpd="sng" algn="ctr">
                      <a:solidFill>
                        <a:srgbClr val="BFC9D9"/>
                      </a:solidFill>
                      <a:prstDash val="solid"/>
                      <a:round/>
                      <a:headEnd type="none" w="med" len="med"/>
                      <a:tailEnd type="none" w="med" len="med"/>
                    </a:lnL>
                    <a:lnR w="12700" cap="flat" cmpd="sng" algn="ctr">
                      <a:solidFill>
                        <a:srgbClr val="BFC9D9"/>
                      </a:solidFill>
                      <a:prstDash val="solid"/>
                      <a:round/>
                      <a:headEnd type="none" w="med" len="med"/>
                      <a:tailEnd type="none" w="med" len="med"/>
                    </a:lnR>
                    <a:lnT w="12700" cap="flat" cmpd="sng" algn="ctr">
                      <a:solidFill>
                        <a:srgbClr val="BFC9D9"/>
                      </a:solidFill>
                      <a:prstDash val="solid"/>
                      <a:round/>
                      <a:headEnd type="none" w="med" len="med"/>
                      <a:tailEnd type="none" w="med" len="med"/>
                    </a:lnT>
                    <a:lnB w="12700" cap="flat" cmpd="sng" algn="ctr">
                      <a:solidFill>
                        <a:srgbClr val="BFC9D9"/>
                      </a:solidFill>
                      <a:prstDash val="solid"/>
                      <a:round/>
                      <a:headEnd type="none" w="med" len="med"/>
                      <a:tailEnd type="none" w="med" len="med"/>
                    </a:lnB>
                    <a:solidFill>
                      <a:srgbClr val="FFFFFF"/>
                    </a:solidFill>
                  </a:tcPr>
                </a:tc>
              </a:tr>
              <a:tr h="502920">
                <a:tc>
                  <a:txBody>
                    <a:bodyPr/>
                    <a:lstStyle/>
                    <a:p>
                      <a:pPr algn="l" indent="0" marL="0">
                        <a:buNone/>
                      </a:pPr>
                      <a:r>
                        <a:rPr lang="en-US" sz="1700" dirty="0">
                          <a:solidFill>
                            <a:srgbClr val="1A1A1A"/>
                          </a:solidFill>
                          <a:latin typeface="Arial" pitchFamily="34" charset="0"/>
                          <a:ea typeface="Arial" pitchFamily="34" charset="-122"/>
                          <a:cs typeface="Arial" pitchFamily="34" charset="-120"/>
                        </a:rPr>
                        <a:t>TPM1 (Entrez 7168) transcript agreement</a:t>
                      </a:r>
                      <a:endParaRPr lang="en-US" sz="1700" dirty="0">
                        <a:latin typeface="Arial" charset="0"/>
                        <a:ea typeface="Arial" charset="0"/>
                        <a:cs typeface="Arial" charset="0"/>
                      </a:endParaRPr>
                    </a:p>
                  </a:txBody>
                  <a:tcPr marL="73152" marR="73152" marT="73152" marB="73152" anchor="ctr">
                    <a:lnL w="12700" cap="flat" cmpd="sng" algn="ctr">
                      <a:solidFill>
                        <a:srgbClr val="BFC9D9"/>
                      </a:solidFill>
                      <a:prstDash val="solid"/>
                      <a:round/>
                      <a:headEnd type="none" w="med" len="med"/>
                      <a:tailEnd type="none" w="med" len="med"/>
                    </a:lnL>
                    <a:lnR w="12700" cap="flat" cmpd="sng" algn="ctr">
                      <a:solidFill>
                        <a:srgbClr val="BFC9D9"/>
                      </a:solidFill>
                      <a:prstDash val="solid"/>
                      <a:round/>
                      <a:headEnd type="none" w="med" len="med"/>
                      <a:tailEnd type="none" w="med" len="med"/>
                    </a:lnR>
                    <a:lnT w="12700" cap="flat" cmpd="sng" algn="ctr">
                      <a:solidFill>
                        <a:srgbClr val="BFC9D9"/>
                      </a:solidFill>
                      <a:prstDash val="solid"/>
                      <a:round/>
                      <a:headEnd type="none" w="med" len="med"/>
                      <a:tailEnd type="none" w="med" len="med"/>
                    </a:lnT>
                    <a:lnB w="12700" cap="flat" cmpd="sng" algn="ctr">
                      <a:solidFill>
                        <a:srgbClr val="BFC9D9"/>
                      </a:solidFill>
                      <a:prstDash val="solid"/>
                      <a:round/>
                      <a:headEnd type="none" w="med" len="med"/>
                      <a:tailEnd type="none" w="med" len="med"/>
                    </a:lnB>
                    <a:solidFill>
                      <a:srgbClr val="F2F4F7"/>
                    </a:solidFill>
                  </a:tcPr>
                </a:tc>
                <a:tc>
                  <a:txBody>
                    <a:bodyPr/>
                    <a:lstStyle/>
                    <a:p>
                      <a:pPr algn="l" indent="0" marL="0">
                        <a:buNone/>
                      </a:pPr>
                      <a:r>
                        <a:rPr lang="en-US" sz="1700" b="1" dirty="0">
                          <a:solidFill>
                            <a:srgbClr val="1A1A1A"/>
                          </a:solidFill>
                          <a:latin typeface="Arial" pitchFamily="34" charset="0"/>
                          <a:ea typeface="Arial" pitchFamily="34" charset="-122"/>
                          <a:cs typeface="Arial" pitchFamily="34" charset="-120"/>
                        </a:rPr>
                        <a:t>is_mane = 0     →  different transcript</a:t>
                      </a:r>
                      <a:endParaRPr lang="en-US" sz="1700" dirty="0">
                        <a:latin typeface="Arial" charset="0"/>
                        <a:ea typeface="Arial" charset="0"/>
                        <a:cs typeface="Arial" charset="0"/>
                      </a:endParaRPr>
                    </a:p>
                  </a:txBody>
                  <a:tcPr marL="73152" marR="73152" marT="73152" marB="73152" anchor="ctr">
                    <a:lnL w="12700" cap="flat" cmpd="sng" algn="ctr">
                      <a:solidFill>
                        <a:srgbClr val="BFC9D9"/>
                      </a:solidFill>
                      <a:prstDash val="solid"/>
                      <a:round/>
                      <a:headEnd type="none" w="med" len="med"/>
                      <a:tailEnd type="none" w="med" len="med"/>
                    </a:lnL>
                    <a:lnR w="12700" cap="flat" cmpd="sng" algn="ctr">
                      <a:solidFill>
                        <a:srgbClr val="BFC9D9"/>
                      </a:solidFill>
                      <a:prstDash val="solid"/>
                      <a:round/>
                      <a:headEnd type="none" w="med" len="med"/>
                      <a:tailEnd type="none" w="med" len="med"/>
                    </a:lnR>
                    <a:lnT w="12700" cap="flat" cmpd="sng" algn="ctr">
                      <a:solidFill>
                        <a:srgbClr val="BFC9D9"/>
                      </a:solidFill>
                      <a:prstDash val="solid"/>
                      <a:round/>
                      <a:headEnd type="none" w="med" len="med"/>
                      <a:tailEnd type="none" w="med" len="med"/>
                    </a:lnT>
                    <a:lnB w="12700" cap="flat" cmpd="sng" algn="ctr">
                      <a:solidFill>
                        <a:srgbClr val="BFC9D9"/>
                      </a:solidFill>
                      <a:prstDash val="solid"/>
                      <a:round/>
                      <a:headEnd type="none" w="med" len="med"/>
                      <a:tailEnd type="none" w="med" len="med"/>
                    </a:lnB>
                    <a:solidFill>
                      <a:srgbClr val="F2F4F7"/>
                    </a:solidFill>
                  </a:tcPr>
                </a:tc>
              </a:tr>
            </a:tbl>
          </a:graphicData>
        </a:graphic>
      </p:graphicFrame>
      <p:sp>
        <p:nvSpPr>
          <p:cNvPr id="7" name="Text 4"/>
          <p:cNvSpPr txBox="1"/>
          <p:nvPr/>
        </p:nvSpPr>
        <p:spPr>
          <a:xfrm>
            <a:off x="548640" y="5623560"/>
            <a:ext cx="11064240" cy="548640"/>
          </a:xfrm>
          <a:prstGeom prst="rect">
            <a:avLst/>
          </a:prstGeom>
          <a:noFill/>
          <a:ln/>
        </p:spPr>
        <p:txBody>
          <a:bodyPr wrap="square" lIns="0" tIns="0" rIns="0" bIns="0" rtlCol="0" anchor="t"/>
          <a:lstStyle/>
          <a:p>
            <a:pPr algn="l" indent="0" marL="0">
              <a:buNone/>
            </a:pPr>
            <a:r>
              <a:rPr lang="en-US" sz="1900" b="1" dirty="0">
                <a:solidFill>
                  <a:srgbClr val="1A6B3C"/>
                </a:solidFill>
                <a:latin typeface="Arial" pitchFamily="34" charset="0"/>
                <a:ea typeface="Arial" pitchFamily="34" charset="-122"/>
                <a:cs typeface="Arial" pitchFamily="34" charset="-120"/>
              </a:rPr>
              <a:t>"N.A." (cannot assess this gene) is kept strictly separate from "—" (looked, and found nothing).</a:t>
            </a:r>
            <a:endParaRPr lang="en-US" sz="1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685800"/>
          </a:xfrm>
          <a:prstGeom prst="rect">
            <a:avLst/>
          </a:prstGeom>
          <a:noFill/>
          <a:ln/>
        </p:spPr>
        <p:txBody>
          <a:bodyPr wrap="square" lIns="0" tIns="0" rIns="0" bIns="0" rtlCol="0" anchor="ctr"/>
          <a:lstStyle/>
          <a:p>
            <a:pPr algn="l" indent="0" marL="0">
              <a:buNone/>
            </a:pPr>
            <a:r>
              <a:rPr lang="en-US" sz="3400" b="1" dirty="0">
                <a:solidFill>
                  <a:srgbClr val="1F3864"/>
                </a:solidFill>
                <a:latin typeface="Arial" pitchFamily="34" charset="0"/>
                <a:ea typeface="Arial" pitchFamily="34" charset="-122"/>
                <a:cs typeface="Arial" pitchFamily="34" charset="-120"/>
              </a:rPr>
              <a:t>Summary in Five Points</a:t>
            </a:r>
            <a:endParaRPr lang="en-US" sz="3400" dirty="0"/>
          </a:p>
        </p:txBody>
      </p:sp>
      <p:sp>
        <p:nvSpPr>
          <p:cNvPr id="3" name="Shape 1"/>
          <p:cNvSpPr/>
          <p:nvPr/>
        </p:nvSpPr>
        <p:spPr>
          <a:xfrm>
            <a:off x="594360" y="1225296"/>
            <a:ext cx="475488" cy="475488"/>
          </a:xfrm>
          <a:prstGeom prst="ellipse">
            <a:avLst/>
          </a:prstGeom>
          <a:solidFill>
            <a:srgbClr val="1F3864"/>
          </a:solidFill>
          <a:ln w="12700">
            <a:solidFill>
              <a:srgbClr val="1F3864"/>
            </a:solidFill>
            <a:prstDash val="solid"/>
          </a:ln>
        </p:spPr>
      </p:sp>
      <p:sp>
        <p:nvSpPr>
          <p:cNvPr id="4" name="Text 2"/>
          <p:cNvSpPr txBox="1"/>
          <p:nvPr/>
        </p:nvSpPr>
        <p:spPr>
          <a:xfrm>
            <a:off x="594360" y="1225296"/>
            <a:ext cx="475488" cy="475488"/>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1</a:t>
            </a:r>
            <a:endParaRPr lang="en-US" sz="2000" dirty="0"/>
          </a:p>
        </p:txBody>
      </p:sp>
      <p:sp>
        <p:nvSpPr>
          <p:cNvPr id="5" name="Text 3"/>
          <p:cNvSpPr txBox="1"/>
          <p:nvPr/>
        </p:nvSpPr>
        <p:spPr>
          <a:xfrm>
            <a:off x="1298448" y="1188720"/>
            <a:ext cx="10332720" cy="548640"/>
          </a:xfrm>
          <a:prstGeom prst="rect">
            <a:avLst/>
          </a:prstGeom>
          <a:noFill/>
          <a:ln/>
        </p:spPr>
        <p:txBody>
          <a:bodyPr wrap="square" lIns="0" tIns="0" rIns="0" bIns="0" rtlCol="0" anchor="t"/>
          <a:lstStyle/>
          <a:p>
            <a:pPr algn="l" indent="0" marL="0">
              <a:buNone/>
            </a:pPr>
            <a:r>
              <a:rPr lang="en-US" sz="2000" b="1" dirty="0">
                <a:solidFill>
                  <a:srgbClr val="1F3864"/>
                </a:solidFill>
                <a:latin typeface="Arial" pitchFamily="34" charset="0"/>
                <a:ea typeface="Arial" pitchFamily="34" charset="-122"/>
                <a:cs typeface="Arial" pitchFamily="34" charset="-120"/>
              </a:rPr>
              <a:t>MANE Select v1.5 is the coordinate backbone</a:t>
            </a:r>
            <a:endParaRPr lang="en-US" sz="2000" dirty="0"/>
          </a:p>
        </p:txBody>
      </p:sp>
      <p:sp>
        <p:nvSpPr>
          <p:cNvPr id="6" name="Text 4"/>
          <p:cNvSpPr txBox="1"/>
          <p:nvPr/>
        </p:nvSpPr>
        <p:spPr>
          <a:xfrm>
            <a:off x="1298448" y="1536192"/>
            <a:ext cx="10332720" cy="548640"/>
          </a:xfrm>
          <a:prstGeom prst="rect">
            <a:avLst/>
          </a:prstGeom>
          <a:noFill/>
          <a:ln/>
        </p:spPr>
        <p:txBody>
          <a:bodyPr wrap="square" lIns="0" tIns="0" rIns="0" bIns="0" rtlCol="0" anchor="t"/>
          <a:lstStyle/>
          <a:p>
            <a:pPr algn="l" indent="0" marL="0">
              <a:buNone/>
            </a:pPr>
            <a:r>
              <a:rPr lang="en-US" sz="1800" dirty="0">
                <a:solidFill>
                  <a:srgbClr val="1A1A1A"/>
                </a:solidFill>
                <a:latin typeface="Arial" pitchFamily="34" charset="0"/>
                <a:ea typeface="Arial" pitchFamily="34" charset="-122"/>
                <a:cs typeface="Arial" pitchFamily="34" charset="-120"/>
              </a:rPr>
              <a:t>Every position in the tool is 1-based on a MANE Select transcript.</a:t>
            </a:r>
            <a:endParaRPr lang="en-US" sz="1800" dirty="0"/>
          </a:p>
        </p:txBody>
      </p:sp>
      <p:sp>
        <p:nvSpPr>
          <p:cNvPr id="7" name="Shape 5"/>
          <p:cNvSpPr/>
          <p:nvPr/>
        </p:nvSpPr>
        <p:spPr>
          <a:xfrm>
            <a:off x="594360" y="2249424"/>
            <a:ext cx="475488" cy="475488"/>
          </a:xfrm>
          <a:prstGeom prst="ellipse">
            <a:avLst/>
          </a:prstGeom>
          <a:solidFill>
            <a:srgbClr val="1F3864"/>
          </a:solidFill>
          <a:ln w="12700">
            <a:solidFill>
              <a:srgbClr val="1F3864"/>
            </a:solidFill>
            <a:prstDash val="solid"/>
          </a:ln>
        </p:spPr>
      </p:sp>
      <p:sp>
        <p:nvSpPr>
          <p:cNvPr id="8" name="Text 6"/>
          <p:cNvSpPr txBox="1"/>
          <p:nvPr/>
        </p:nvSpPr>
        <p:spPr>
          <a:xfrm>
            <a:off x="594360" y="2249424"/>
            <a:ext cx="475488" cy="475488"/>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2</a:t>
            </a:r>
            <a:endParaRPr lang="en-US" sz="2000" dirty="0"/>
          </a:p>
        </p:txBody>
      </p:sp>
      <p:sp>
        <p:nvSpPr>
          <p:cNvPr id="9" name="Text 7"/>
          <p:cNvSpPr txBox="1"/>
          <p:nvPr/>
        </p:nvSpPr>
        <p:spPr>
          <a:xfrm>
            <a:off x="1298448" y="2212848"/>
            <a:ext cx="10332720" cy="548640"/>
          </a:xfrm>
          <a:prstGeom prst="rect">
            <a:avLst/>
          </a:prstGeom>
          <a:noFill/>
          <a:ln/>
        </p:spPr>
        <p:txBody>
          <a:bodyPr wrap="square" lIns="0" tIns="0" rIns="0" bIns="0" rtlCol="0" anchor="t"/>
          <a:lstStyle/>
          <a:p>
            <a:pPr algn="l" indent="0" marL="0">
              <a:buNone/>
            </a:pPr>
            <a:r>
              <a:rPr lang="en-US" sz="2000" b="1" dirty="0">
                <a:solidFill>
                  <a:srgbClr val="1F3864"/>
                </a:solidFill>
                <a:latin typeface="Arial" pitchFamily="34" charset="0"/>
                <a:ea typeface="Arial" pitchFamily="34" charset="-122"/>
                <a:cs typeface="Arial" pitchFamily="34" charset="-120"/>
              </a:rPr>
              <a:t>TargetScan uses a different transcript for 38.7 % of genes</a:t>
            </a:r>
            <a:endParaRPr lang="en-US" sz="2000" dirty="0"/>
          </a:p>
        </p:txBody>
      </p:sp>
      <p:sp>
        <p:nvSpPr>
          <p:cNvPr id="10" name="Text 8"/>
          <p:cNvSpPr txBox="1"/>
          <p:nvPr/>
        </p:nvSpPr>
        <p:spPr>
          <a:xfrm>
            <a:off x="1298448" y="2560320"/>
            <a:ext cx="10332720" cy="548640"/>
          </a:xfrm>
          <a:prstGeom prst="rect">
            <a:avLst/>
          </a:prstGeom>
          <a:noFill/>
          <a:ln/>
        </p:spPr>
        <p:txBody>
          <a:bodyPr wrap="square" lIns="0" tIns="0" rIns="0" bIns="0" rtlCol="0" anchor="t"/>
          <a:lstStyle/>
          <a:p>
            <a:pPr algn="l" indent="0" marL="0">
              <a:buNone/>
            </a:pPr>
            <a:r>
              <a:rPr lang="en-US" sz="1800" dirty="0">
                <a:solidFill>
                  <a:srgbClr val="1A1A1A"/>
                </a:solidFill>
                <a:latin typeface="Arial" pitchFamily="34" charset="0"/>
                <a:ea typeface="Arial" pitchFamily="34" charset="-122"/>
                <a:cs typeface="Arial" pitchFamily="34" charset="-120"/>
              </a:rPr>
              <a:t>Measured on 19,474 genes: 11,372 same, 7,189 different, 32 unflagged.</a:t>
            </a:r>
            <a:endParaRPr lang="en-US" sz="1800" dirty="0"/>
          </a:p>
        </p:txBody>
      </p:sp>
      <p:sp>
        <p:nvSpPr>
          <p:cNvPr id="11" name="Shape 9"/>
          <p:cNvSpPr/>
          <p:nvPr/>
        </p:nvSpPr>
        <p:spPr>
          <a:xfrm>
            <a:off x="594360" y="3273552"/>
            <a:ext cx="475488" cy="475488"/>
          </a:xfrm>
          <a:prstGeom prst="ellipse">
            <a:avLst/>
          </a:prstGeom>
          <a:solidFill>
            <a:srgbClr val="1F3864"/>
          </a:solidFill>
          <a:ln w="12700">
            <a:solidFill>
              <a:srgbClr val="1F3864"/>
            </a:solidFill>
            <a:prstDash val="solid"/>
          </a:ln>
        </p:spPr>
      </p:sp>
      <p:sp>
        <p:nvSpPr>
          <p:cNvPr id="12" name="Text 10"/>
          <p:cNvSpPr txBox="1"/>
          <p:nvPr/>
        </p:nvSpPr>
        <p:spPr>
          <a:xfrm>
            <a:off x="594360" y="3273552"/>
            <a:ext cx="475488" cy="475488"/>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3</a:t>
            </a:r>
            <a:endParaRPr lang="en-US" sz="2000" dirty="0"/>
          </a:p>
        </p:txBody>
      </p:sp>
      <p:sp>
        <p:nvSpPr>
          <p:cNvPr id="13" name="Text 11"/>
          <p:cNvSpPr txBox="1"/>
          <p:nvPr/>
        </p:nvSpPr>
        <p:spPr>
          <a:xfrm>
            <a:off x="1298448" y="3236976"/>
            <a:ext cx="10332720" cy="548640"/>
          </a:xfrm>
          <a:prstGeom prst="rect">
            <a:avLst/>
          </a:prstGeom>
          <a:noFill/>
          <a:ln/>
        </p:spPr>
        <p:txBody>
          <a:bodyPr wrap="square" lIns="0" tIns="0" rIns="0" bIns="0" rtlCol="0" anchor="t"/>
          <a:lstStyle/>
          <a:p>
            <a:pPr algn="l" indent="0" marL="0">
              <a:buNone/>
            </a:pPr>
            <a:r>
              <a:rPr lang="en-US" sz="2000" b="1" dirty="0">
                <a:solidFill>
                  <a:srgbClr val="1F3864"/>
                </a:solidFill>
                <a:latin typeface="Arial" pitchFamily="34" charset="0"/>
                <a:ea typeface="Arial" pitchFamily="34" charset="-122"/>
                <a:cs typeface="Arial" pitchFamily="34" charset="-120"/>
              </a:rPr>
              <a:t>Therefore TargetScan coordinates cannot be transferred</a:t>
            </a:r>
            <a:endParaRPr lang="en-US" sz="2000" dirty="0"/>
          </a:p>
        </p:txBody>
      </p:sp>
      <p:sp>
        <p:nvSpPr>
          <p:cNvPr id="14" name="Text 12"/>
          <p:cNvSpPr txBox="1"/>
          <p:nvPr/>
        </p:nvSpPr>
        <p:spPr>
          <a:xfrm>
            <a:off x="1298448" y="3584448"/>
            <a:ext cx="10332720" cy="548640"/>
          </a:xfrm>
          <a:prstGeom prst="rect">
            <a:avLst/>
          </a:prstGeom>
          <a:noFill/>
          <a:ln/>
        </p:spPr>
        <p:txBody>
          <a:bodyPr wrap="square" lIns="0" tIns="0" rIns="0" bIns="0" rtlCol="0" anchor="t"/>
          <a:lstStyle/>
          <a:p>
            <a:pPr algn="l" indent="0" marL="0">
              <a:buNone/>
            </a:pPr>
            <a:r>
              <a:rPr lang="en-US" sz="1800" dirty="0">
                <a:solidFill>
                  <a:srgbClr val="1A1A1A"/>
                </a:solidFill>
                <a:latin typeface="Arial" pitchFamily="34" charset="0"/>
                <a:ea typeface="Arial" pitchFamily="34" charset="-122"/>
                <a:cs typeface="Arial" pitchFamily="34" charset="-120"/>
              </a:rPr>
              <a:t>No TargetScan position appears anywhere in the tool.</a:t>
            </a:r>
            <a:endParaRPr lang="en-US" sz="1800" dirty="0"/>
          </a:p>
        </p:txBody>
      </p:sp>
      <p:sp>
        <p:nvSpPr>
          <p:cNvPr id="15" name="Shape 13"/>
          <p:cNvSpPr/>
          <p:nvPr/>
        </p:nvSpPr>
        <p:spPr>
          <a:xfrm>
            <a:off x="594360" y="4297680"/>
            <a:ext cx="475488" cy="475488"/>
          </a:xfrm>
          <a:prstGeom prst="ellipse">
            <a:avLst/>
          </a:prstGeom>
          <a:solidFill>
            <a:srgbClr val="1F3864"/>
          </a:solidFill>
          <a:ln w="12700">
            <a:solidFill>
              <a:srgbClr val="1F3864"/>
            </a:solidFill>
            <a:prstDash val="solid"/>
          </a:ln>
        </p:spPr>
      </p:sp>
      <p:sp>
        <p:nvSpPr>
          <p:cNvPr id="16" name="Text 14"/>
          <p:cNvSpPr txBox="1"/>
          <p:nvPr/>
        </p:nvSpPr>
        <p:spPr>
          <a:xfrm>
            <a:off x="594360" y="4297680"/>
            <a:ext cx="475488" cy="475488"/>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4</a:t>
            </a:r>
            <a:endParaRPr lang="en-US" sz="2000" dirty="0"/>
          </a:p>
        </p:txBody>
      </p:sp>
      <p:sp>
        <p:nvSpPr>
          <p:cNvPr id="17" name="Text 15"/>
          <p:cNvSpPr txBox="1"/>
          <p:nvPr/>
        </p:nvSpPr>
        <p:spPr>
          <a:xfrm>
            <a:off x="1298448" y="4261104"/>
            <a:ext cx="10332720" cy="548640"/>
          </a:xfrm>
          <a:prstGeom prst="rect">
            <a:avLst/>
          </a:prstGeom>
          <a:noFill/>
          <a:ln/>
        </p:spPr>
        <p:txBody>
          <a:bodyPr wrap="square" lIns="0" tIns="0" rIns="0" bIns="0" rtlCol="0" anchor="t"/>
          <a:lstStyle/>
          <a:p>
            <a:pPr algn="l" indent="0" marL="0">
              <a:buNone/>
            </a:pPr>
            <a:r>
              <a:rPr lang="en-US" sz="2000" b="1" dirty="0">
                <a:solidFill>
                  <a:srgbClr val="1F3864"/>
                </a:solidFill>
                <a:latin typeface="Arial" pitchFamily="34" charset="0"/>
                <a:ea typeface="Arial" pitchFamily="34" charset="-122"/>
                <a:cs typeface="Arial" pitchFamily="34" charset="-120"/>
              </a:rPr>
              <a:t>TargetScan is integrated at gene level, via a 3-step cascade</a:t>
            </a:r>
            <a:endParaRPr lang="en-US" sz="2000" dirty="0"/>
          </a:p>
        </p:txBody>
      </p:sp>
      <p:sp>
        <p:nvSpPr>
          <p:cNvPr id="18" name="Text 16"/>
          <p:cNvSpPr txBox="1"/>
          <p:nvPr/>
        </p:nvSpPr>
        <p:spPr>
          <a:xfrm>
            <a:off x="1298448" y="4608576"/>
            <a:ext cx="10332720" cy="548640"/>
          </a:xfrm>
          <a:prstGeom prst="rect">
            <a:avLst/>
          </a:prstGeom>
          <a:noFill/>
          <a:ln/>
        </p:spPr>
        <p:txBody>
          <a:bodyPr wrap="square" lIns="0" tIns="0" rIns="0" bIns="0" rtlCol="0" anchor="t"/>
          <a:lstStyle/>
          <a:p>
            <a:pPr algn="l" indent="0" marL="0">
              <a:buNone/>
            </a:pPr>
            <a:r>
              <a:rPr lang="en-US" sz="1800" dirty="0">
                <a:solidFill>
                  <a:srgbClr val="1A1A1A"/>
                </a:solidFill>
                <a:latin typeface="Arial" pitchFamily="34" charset="0"/>
                <a:ea typeface="Arial" pitchFamily="34" charset="-122"/>
                <a:cs typeface="Arial" pitchFamily="34" charset="-120"/>
              </a:rPr>
              <a:t>Ensembl gene → symbol → alias, reaching 18,593 of 19,474 = 95.5 %.</a:t>
            </a:r>
            <a:endParaRPr lang="en-US" sz="1800" dirty="0"/>
          </a:p>
        </p:txBody>
      </p:sp>
      <p:sp>
        <p:nvSpPr>
          <p:cNvPr id="19" name="Shape 17"/>
          <p:cNvSpPr/>
          <p:nvPr/>
        </p:nvSpPr>
        <p:spPr>
          <a:xfrm>
            <a:off x="594360" y="5321808"/>
            <a:ext cx="475488" cy="475488"/>
          </a:xfrm>
          <a:prstGeom prst="ellipse">
            <a:avLst/>
          </a:prstGeom>
          <a:solidFill>
            <a:srgbClr val="1F3864"/>
          </a:solidFill>
          <a:ln w="12700">
            <a:solidFill>
              <a:srgbClr val="1F3864"/>
            </a:solidFill>
            <a:prstDash val="solid"/>
          </a:ln>
        </p:spPr>
      </p:sp>
      <p:sp>
        <p:nvSpPr>
          <p:cNvPr id="20" name="Text 18"/>
          <p:cNvSpPr txBox="1"/>
          <p:nvPr/>
        </p:nvSpPr>
        <p:spPr>
          <a:xfrm>
            <a:off x="594360" y="5321808"/>
            <a:ext cx="475488" cy="475488"/>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5</a:t>
            </a:r>
            <a:endParaRPr lang="en-US" sz="2000" dirty="0"/>
          </a:p>
        </p:txBody>
      </p:sp>
      <p:sp>
        <p:nvSpPr>
          <p:cNvPr id="21" name="Text 19"/>
          <p:cNvSpPr txBox="1"/>
          <p:nvPr/>
        </p:nvSpPr>
        <p:spPr>
          <a:xfrm>
            <a:off x="1298448" y="5285232"/>
            <a:ext cx="10332720" cy="548640"/>
          </a:xfrm>
          <a:prstGeom prst="rect">
            <a:avLst/>
          </a:prstGeom>
          <a:noFill/>
          <a:ln/>
        </p:spPr>
        <p:txBody>
          <a:bodyPr wrap="square" lIns="0" tIns="0" rIns="0" bIns="0" rtlCol="0" anchor="t"/>
          <a:lstStyle/>
          <a:p>
            <a:pPr algn="l" indent="0" marL="0">
              <a:buNone/>
            </a:pPr>
            <a:r>
              <a:rPr lang="en-US" sz="2000" b="1" dirty="0">
                <a:solidFill>
                  <a:srgbClr val="1F3864"/>
                </a:solidFill>
                <a:latin typeface="Arial" pitchFamily="34" charset="0"/>
                <a:ea typeface="Arial" pitchFamily="34" charset="-122"/>
                <a:cs typeface="Arial" pitchFamily="34" charset="-120"/>
              </a:rPr>
              <a:t>TPM1 shows why the decision matters</a:t>
            </a:r>
            <a:endParaRPr lang="en-US" sz="2000" dirty="0"/>
          </a:p>
        </p:txBody>
      </p:sp>
      <p:sp>
        <p:nvSpPr>
          <p:cNvPr id="22" name="Text 20"/>
          <p:cNvSpPr txBox="1"/>
          <p:nvPr/>
        </p:nvSpPr>
        <p:spPr>
          <a:xfrm>
            <a:off x="1298448" y="5632704"/>
            <a:ext cx="10332720" cy="548640"/>
          </a:xfrm>
          <a:prstGeom prst="rect">
            <a:avLst/>
          </a:prstGeom>
          <a:noFill/>
          <a:ln/>
        </p:spPr>
        <p:txBody>
          <a:bodyPr wrap="square" lIns="0" tIns="0" rIns="0" bIns="0" rtlCol="0" anchor="t"/>
          <a:lstStyle/>
          <a:p>
            <a:pPr algn="l" indent="0" marL="0">
              <a:buNone/>
            </a:pPr>
            <a:r>
              <a:rPr lang="en-US" sz="1800" dirty="0">
                <a:solidFill>
                  <a:srgbClr val="1A1A1A"/>
                </a:solidFill>
                <a:latin typeface="Arial" pitchFamily="34" charset="0"/>
                <a:ea typeface="Arial" pitchFamily="34" charset="-122"/>
                <a:cs typeface="Arial" pitchFamily="34" charset="-120"/>
              </a:rPr>
              <a:t>Our scanner finds the published site; TargetScan's chosen 3'UTR does not contain it.</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MANE and TargetScan: Transcript Reconciliation</dc:title>
  <dc:subject>PptxGenJS Presentation</dc:subject>
  <dc:creator>Aungshuman</dc:creator>
  <cp:lastModifiedBy>Aungshuman</cp:lastModifiedBy>
  <cp:revision>1</cp:revision>
  <dcterms:created xsi:type="dcterms:W3CDTF">2026-09-14T16:55:35Z</dcterms:created>
  <dcterms:modified xsi:type="dcterms:W3CDTF">2026-09-14T16:55:35Z</dcterms:modified>
</cp:coreProperties>
</file>